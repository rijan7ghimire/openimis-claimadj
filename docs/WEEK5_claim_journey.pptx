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 5 progress, in four parts. Week 1 mapped the system, Week 2 chose duplicate and cross-scheme claims, Weeks 3-4 built the knowledge base and prototype; Week 5 walks the whole thing as one claim. Grishma opens with the recap.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Grishma. One minute of recap, then walk the audience along the map once; every later slide keeps the same stepper at the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Grishma. Keep to one minute: four rows, one thread.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Grishma. Walk the audience along the map once. Every later slide shows the same stepper at the top, so people always know where we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Grishma. Point out the 'Earlier claim' line on the screenshot: HIB already paid the surgery at Bir Hospital, and SSF's front desk cannot see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Grishma. The screenshot is the animated checklist of the real openIMIS edits, with 6 and 8 shown as disabled. Emphasise: every edit looks at this one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Grishma. The screenshot shows the timeline of the whole journey for the cross-scheme claim after the reviewer confirmed the flag (reason 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Grishma, hand-over to Rijan. Six questions, six 'no'. The next part shows the knowledge we collected to answer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Rijan. Provenance first, then the ontology, then the standards table, then the synthetic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Rijan. Provenance matters in knowledge engineering: every rule in the ontology records which of these sources it was derived from (prov:wasDerivedFrom).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Rijan. Teal boxes are our additions, blue is openIMIS/FHIR-aligned, gold is elicited knowledge. The only cross-scheme handle is IdentityKey.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Rijan. This is the Ontology page of the app condensed into one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Rijan, hand-over to Milan. The important design choice: ground truth on every claim, so the layer scores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Milan. The rules are the Week 2 catalog made executable; the failures are the honest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Milan. The 'because' column is what the reviewer reads. R2 has the lowest precision on purpose: honest split visits look the same, and the reviewer clears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Milan. Live demo option: switch the toggle between 'ranked' and '5 % random' in the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Milan. Read the two 'because' sentences aloud: that is the explainability requirement 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Milan, hand-over to Biwash. Be explicit that the 0 % row is by construction: we planted cases we knew the composite key could not join.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Milan. The decision panel compares the new claim with the matched claim side by side, which is the reviewer's actual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Biwash. Architecture, a short comparison, the evidence, the next steps, then the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Biwash. Teal boxes are new; white boxes exist today. The whole layer can be a Django module like claim_ai_quality.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Biwash. Keep this short: one line per country, then the caveat.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Biwash. Say clearly: these are synthetic numbers; the method is what we validated, and the next step is real HIB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Biwash. Close with the one-sentence summary and open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References, cited by organisation and date. Slides never cite recordings; the presentations are cited as the organisation's presentation on its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References, cited by organisation and date. Slides never cite recordings; the presentations are cited as the organisation's presentation on its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Closing. Offer the live demo: the cross-scheme scenario at step 8, and the hard case at step 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61772" y="932688"/>
            <a:ext cx="1408176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61772" y="932688"/>
            <a:ext cx="1408176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Patient visits hospital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58568" y="932688"/>
            <a:ext cx="2606040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58568" y="932688"/>
            <a:ext cx="260604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Health facility submits claim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3228" y="932688"/>
            <a:ext cx="3204972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3228" y="932688"/>
            <a:ext cx="3204972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Claim adjudication by HIB / SSF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300861"/>
            <a:ext cx="7786116" cy="317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1772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Membership
verification</a:t>
            </a:r>
          </a:p>
        </p:txBody>
      </p:sp>
      <p:sp>
        <p:nvSpPr>
          <p:cNvPr id="13" name="Oval 12"/>
          <p:cNvSpPr/>
          <p:nvPr/>
        </p:nvSpPr>
        <p:spPr>
          <a:xfrm>
            <a:off x="1060704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Hospital card
and care</a:t>
            </a:r>
          </a:p>
        </p:txBody>
      </p:sp>
      <p:sp>
        <p:nvSpPr>
          <p:cNvPr id="15" name="Oval 14"/>
          <p:cNvSpPr/>
          <p:nvPr/>
        </p:nvSpPr>
        <p:spPr>
          <a:xfrm>
            <a:off x="1659636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0744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Nothing paid
at the counter</a:t>
            </a:r>
          </a:p>
        </p:txBody>
      </p:sp>
      <p:sp>
        <p:nvSpPr>
          <p:cNvPr id="17" name="Oval 16"/>
          <p:cNvSpPr/>
          <p:nvPr/>
        </p:nvSpPr>
        <p:spPr>
          <a:xfrm>
            <a:off x="2258568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9676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Claim
document</a:t>
            </a:r>
          </a:p>
        </p:txBody>
      </p:sp>
      <p:sp>
        <p:nvSpPr>
          <p:cNvPr id="19" name="Oval 18"/>
          <p:cNvSpPr/>
          <p:nvPr/>
        </p:nvSpPr>
        <p:spPr>
          <a:xfrm>
            <a:off x="2857500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78608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Entered in
openIMIS</a:t>
            </a:r>
          </a:p>
        </p:txBody>
      </p:sp>
      <p:sp>
        <p:nvSpPr>
          <p:cNvPr id="21" name="Oval 20"/>
          <p:cNvSpPr/>
          <p:nvPr/>
        </p:nvSpPr>
        <p:spPr>
          <a:xfrm>
            <a:off x="3456432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77540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Facility check
and submission</a:t>
            </a:r>
          </a:p>
        </p:txBody>
      </p:sp>
      <p:sp>
        <p:nvSpPr>
          <p:cNvPr id="23" name="Oval 22"/>
          <p:cNvSpPr/>
          <p:nvPr/>
        </p:nvSpPr>
        <p:spPr>
          <a:xfrm>
            <a:off x="4055364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76472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System
verification</a:t>
            </a:r>
          </a:p>
        </p:txBody>
      </p:sp>
      <p:sp>
        <p:nvSpPr>
          <p:cNvPr id="25" name="Oval 24"/>
          <p:cNvSpPr/>
          <p:nvPr/>
        </p:nvSpPr>
        <p:spPr>
          <a:xfrm>
            <a:off x="4654296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C7D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0C7D72"/>
                </a:solidFill>
                <a:latin typeface="Calibri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5404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0C7D72"/>
                </a:solidFill>
                <a:latin typeface="Calibri"/>
              </a:rPr>
              <a:t>Identity and
cross-claim rules</a:t>
            </a:r>
          </a:p>
        </p:txBody>
      </p:sp>
      <p:sp>
        <p:nvSpPr>
          <p:cNvPr id="27" name="Oval 26"/>
          <p:cNvSpPr/>
          <p:nvPr/>
        </p:nvSpPr>
        <p:spPr>
          <a:xfrm>
            <a:off x="5253228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74336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Completeness
check</a:t>
            </a:r>
          </a:p>
        </p:txBody>
      </p:sp>
      <p:sp>
        <p:nvSpPr>
          <p:cNvPr id="29" name="Oval 28"/>
          <p:cNvSpPr/>
          <p:nvPr/>
        </p:nvSpPr>
        <p:spPr>
          <a:xfrm>
            <a:off x="5852160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3268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Benefit
package check</a:t>
            </a:r>
          </a:p>
        </p:txBody>
      </p:sp>
      <p:sp>
        <p:nvSpPr>
          <p:cNvPr id="31" name="Oval 30"/>
          <p:cNvSpPr/>
          <p:nvPr/>
        </p:nvSpPr>
        <p:spPr>
          <a:xfrm>
            <a:off x="6451092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C7D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0C7D72"/>
                </a:solidFill>
                <a:latin typeface="Calibri"/>
              </a:rPr>
              <a:t>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0C7D72"/>
                </a:solidFill>
                <a:latin typeface="Calibri"/>
              </a:rPr>
              <a:t>Ranked
review queue</a:t>
            </a:r>
          </a:p>
        </p:txBody>
      </p:sp>
      <p:sp>
        <p:nvSpPr>
          <p:cNvPr id="33" name="Oval 32"/>
          <p:cNvSpPr/>
          <p:nvPr/>
        </p:nvSpPr>
        <p:spPr>
          <a:xfrm>
            <a:off x="7050024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C7D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0C7D72"/>
                </a:solidFill>
                <a:latin typeface="Calibri"/>
              </a:rPr>
              <a:t>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71132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0C7D72"/>
                </a:solidFill>
                <a:latin typeface="Calibri"/>
              </a:rPr>
              <a:t>Reviewer
decision</a:t>
            </a:r>
          </a:p>
        </p:txBody>
      </p:sp>
      <p:sp>
        <p:nvSpPr>
          <p:cNvPr id="35" name="Oval 34"/>
          <p:cNvSpPr/>
          <p:nvPr/>
        </p:nvSpPr>
        <p:spPr>
          <a:xfrm>
            <a:off x="7648956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70064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Settlement
recommended</a:t>
            </a:r>
          </a:p>
        </p:txBody>
      </p:sp>
      <p:sp>
        <p:nvSpPr>
          <p:cNvPr id="37" name="Oval 36"/>
          <p:cNvSpPr/>
          <p:nvPr/>
        </p:nvSpPr>
        <p:spPr>
          <a:xfrm>
            <a:off x="8247888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68996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Approval and
payment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32688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1 · Journey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96696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2 · Knowledge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60704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3 · Rules &amp; review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24712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4 · Proposal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1444752"/>
            <a:ext cx="2468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0" i="0">
                <a:solidFill>
                  <a:srgbClr val="0C7D72"/>
                </a:solidFill>
                <a:latin typeface="Calibri"/>
              </a:rPr>
              <a:t>★ dashed = the hops this study adds (8 · 11 · 12)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1700784"/>
            <a:ext cx="1136873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2057400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C7D72"/>
                </a:solidFill>
                <a:latin typeface="Calibri"/>
              </a:rPr>
              <a:t>WEEK 5 PROGRESS · KNOWLEDGE-ENGINEERING CASE STUDY · OPENIMIS / HEALTH INSURANCE BOARD &amp; SOCIAL SECURITY FUND, NEPAL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2423160"/>
            <a:ext cx="1051560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800" b="1" i="0">
                <a:solidFill>
                  <a:srgbClr val="1F3864"/>
                </a:solidFill>
                <a:latin typeface="Calibri"/>
              </a:rPr>
              <a:t>Detecting Duplicate &amp; Cross-Scheme Claims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3840480"/>
            <a:ext cx="1024128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1F2A37"/>
                </a:solidFill>
                <a:latin typeface="Calibri"/>
              </a:rPr>
              <a:t>The journey of a claim, and where knowledge stops fraud — the claim-adjudication process, the ontology and knowledge base, the rules and their failed cases, and a proposed solution for HIB and SSF, walked through as one claim from the patient's hand to the final reviewer.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4983480"/>
            <a:ext cx="10058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F2A37"/>
                </a:solidFill>
                <a:latin typeface="Calibri"/>
              </a:rPr>
              <a:t>Grishma Rijal · Rijan Ghimire · Milan Maharjan · Biwash Budhathoki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5303520"/>
            <a:ext cx="10058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Part 1 The claim journey — Grishma Rijal · Part 2 Ontology &amp; knowledge base — Rijan Ghimire · Part 3 Reviewers, rules &amp; failed cases — Milan Maharjan · Part 4 Proposed solution &amp; future work — Biwash Budhathoki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6035040"/>
            <a:ext cx="10058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Built from the Claim Journey web app (React + Node) · synthetic Nepal claim book · no real patient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00200"/>
            <a:ext cx="1280160" cy="76200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Part 1  ·  Grishma Rijal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743200"/>
            <a:ext cx="1060704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800" b="0" i="0">
                <a:solidFill>
                  <a:srgbClr val="C7D2E8"/>
                </a:solidFill>
                <a:latin typeface="Calibri"/>
              </a:rPr>
              <a:t>Recap from Weeks 1–4, then the claim journey — from the patient's hand to the final reviewer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4160520"/>
            <a:ext cx="11643055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1772" y="4242816"/>
            <a:ext cx="1408176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" y="4242816"/>
            <a:ext cx="1408176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Patient visits hospital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58568" y="4242816"/>
            <a:ext cx="2606040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58568" y="4242816"/>
            <a:ext cx="260604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Health facility submits claim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3228" y="4242816"/>
            <a:ext cx="3204972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3228" y="4242816"/>
            <a:ext cx="3204972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Claim adjudication by HIB / SSF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610989"/>
            <a:ext cx="7786116" cy="317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772" y="4521708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Membership
verification</a:t>
            </a:r>
          </a:p>
        </p:txBody>
      </p:sp>
      <p:sp>
        <p:nvSpPr>
          <p:cNvPr id="16" name="Oval 15"/>
          <p:cNvSpPr/>
          <p:nvPr/>
        </p:nvSpPr>
        <p:spPr>
          <a:xfrm>
            <a:off x="1060704" y="4521708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Hospital card
and care</a:t>
            </a:r>
          </a:p>
        </p:txBody>
      </p:sp>
      <p:sp>
        <p:nvSpPr>
          <p:cNvPr id="18" name="Oval 17"/>
          <p:cNvSpPr/>
          <p:nvPr/>
        </p:nvSpPr>
        <p:spPr>
          <a:xfrm>
            <a:off x="1659636" y="4521708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0744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Nothing paid
at the counter</a:t>
            </a:r>
          </a:p>
        </p:txBody>
      </p:sp>
      <p:sp>
        <p:nvSpPr>
          <p:cNvPr id="20" name="Oval 19"/>
          <p:cNvSpPr/>
          <p:nvPr/>
        </p:nvSpPr>
        <p:spPr>
          <a:xfrm>
            <a:off x="2258568" y="4521708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79676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Claim
document</a:t>
            </a:r>
          </a:p>
        </p:txBody>
      </p:sp>
      <p:sp>
        <p:nvSpPr>
          <p:cNvPr id="22" name="Oval 21"/>
          <p:cNvSpPr/>
          <p:nvPr/>
        </p:nvSpPr>
        <p:spPr>
          <a:xfrm>
            <a:off x="2857500" y="4521708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78608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Entered in
openIMIS</a:t>
            </a:r>
          </a:p>
        </p:txBody>
      </p:sp>
      <p:sp>
        <p:nvSpPr>
          <p:cNvPr id="24" name="Oval 23"/>
          <p:cNvSpPr/>
          <p:nvPr/>
        </p:nvSpPr>
        <p:spPr>
          <a:xfrm>
            <a:off x="3456432" y="4521708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77540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Facility check
and submission</a:t>
            </a:r>
          </a:p>
        </p:txBody>
      </p:sp>
      <p:sp>
        <p:nvSpPr>
          <p:cNvPr id="26" name="Oval 25"/>
          <p:cNvSpPr/>
          <p:nvPr/>
        </p:nvSpPr>
        <p:spPr>
          <a:xfrm>
            <a:off x="4055364" y="4521708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76472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System
verification</a:t>
            </a:r>
          </a:p>
        </p:txBody>
      </p:sp>
      <p:sp>
        <p:nvSpPr>
          <p:cNvPr id="28" name="Oval 27"/>
          <p:cNvSpPr/>
          <p:nvPr/>
        </p:nvSpPr>
        <p:spPr>
          <a:xfrm>
            <a:off x="4654296" y="4521708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C7D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0C7D72"/>
                </a:solidFill>
                <a:latin typeface="Calibri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5404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0C7D72"/>
                </a:solidFill>
                <a:latin typeface="Calibri"/>
              </a:rPr>
              <a:t>Identity and
cross-claim rules</a:t>
            </a:r>
          </a:p>
        </p:txBody>
      </p:sp>
      <p:sp>
        <p:nvSpPr>
          <p:cNvPr id="30" name="Oval 29"/>
          <p:cNvSpPr/>
          <p:nvPr/>
        </p:nvSpPr>
        <p:spPr>
          <a:xfrm>
            <a:off x="5253228" y="4521708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74336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Completeness
check</a:t>
            </a:r>
          </a:p>
        </p:txBody>
      </p:sp>
      <p:sp>
        <p:nvSpPr>
          <p:cNvPr id="32" name="Oval 31"/>
          <p:cNvSpPr/>
          <p:nvPr/>
        </p:nvSpPr>
        <p:spPr>
          <a:xfrm>
            <a:off x="5852160" y="4521708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3268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Benefit
package check</a:t>
            </a:r>
          </a:p>
        </p:txBody>
      </p:sp>
      <p:sp>
        <p:nvSpPr>
          <p:cNvPr id="34" name="Oval 33"/>
          <p:cNvSpPr/>
          <p:nvPr/>
        </p:nvSpPr>
        <p:spPr>
          <a:xfrm>
            <a:off x="6451092" y="4521708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C7D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0C7D72"/>
                </a:solidFill>
                <a:latin typeface="Calibri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0C7D72"/>
                </a:solidFill>
                <a:latin typeface="Calibri"/>
              </a:rPr>
              <a:t>Ranked
review queue</a:t>
            </a:r>
          </a:p>
        </p:txBody>
      </p:sp>
      <p:sp>
        <p:nvSpPr>
          <p:cNvPr id="36" name="Oval 35"/>
          <p:cNvSpPr/>
          <p:nvPr/>
        </p:nvSpPr>
        <p:spPr>
          <a:xfrm>
            <a:off x="7050024" y="4521708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C7D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0C7D72"/>
                </a:solidFill>
                <a:latin typeface="Calibri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71132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0C7D72"/>
                </a:solidFill>
                <a:latin typeface="Calibri"/>
              </a:rPr>
              <a:t>Reviewer
decision</a:t>
            </a:r>
          </a:p>
        </p:txBody>
      </p:sp>
      <p:sp>
        <p:nvSpPr>
          <p:cNvPr id="38" name="Oval 37"/>
          <p:cNvSpPr/>
          <p:nvPr/>
        </p:nvSpPr>
        <p:spPr>
          <a:xfrm>
            <a:off x="7648956" y="4521708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70064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Settlement
recommended</a:t>
            </a:r>
          </a:p>
        </p:txBody>
      </p:sp>
      <p:sp>
        <p:nvSpPr>
          <p:cNvPr id="40" name="Oval 39"/>
          <p:cNvSpPr/>
          <p:nvPr/>
        </p:nvSpPr>
        <p:spPr>
          <a:xfrm>
            <a:off x="8247888" y="4521708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68996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Approval and
payment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326880" y="4279392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Calibri"/>
              </a:rPr>
              <a:t>1 · Journey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966960" y="4279392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2 · Knowledge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607040" y="4279392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3 · Rules &amp; review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247120" y="4279392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4 · Proposal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4754880"/>
            <a:ext cx="2468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0" i="0">
                <a:solidFill>
                  <a:srgbClr val="0C7D72"/>
                </a:solidFill>
                <a:latin typeface="Calibri"/>
              </a:rPr>
              <a:t>★ dashed = the hops this study adds (8 · 11 · 12)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5010912"/>
            <a:ext cx="1136873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5760720"/>
            <a:ext cx="106070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9FB0CE"/>
                </a:solidFill>
                <a:latin typeface="Calibri"/>
              </a:rPr>
              <a:t>openIMIS Nepal — Week 5 · the claim journey, the knowledge base and the proposal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PART 1 ·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113385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1F3864"/>
                </a:solidFill>
                <a:latin typeface="Calibri"/>
              </a:rPr>
              <a:t>Where we are — from Week 1 to Week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" y="932688"/>
            <a:ext cx="1408176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" y="932688"/>
            <a:ext cx="1408176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Patient visits hospital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58568" y="932688"/>
            <a:ext cx="2606040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58568" y="932688"/>
            <a:ext cx="260604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Health facility submits claim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3228" y="932688"/>
            <a:ext cx="3204972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3228" y="932688"/>
            <a:ext cx="3204972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Claim adjudication by HIB / SSF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300861"/>
            <a:ext cx="7786116" cy="317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1772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1060704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1659636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2258568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sp>
        <p:nvSpPr>
          <p:cNvPr id="16" name="Oval 15"/>
          <p:cNvSpPr/>
          <p:nvPr/>
        </p:nvSpPr>
        <p:spPr>
          <a:xfrm>
            <a:off x="2857500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sp>
        <p:nvSpPr>
          <p:cNvPr id="17" name="Oval 16"/>
          <p:cNvSpPr/>
          <p:nvPr/>
        </p:nvSpPr>
        <p:spPr>
          <a:xfrm>
            <a:off x="3456432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sp>
        <p:nvSpPr>
          <p:cNvPr id="18" name="Oval 17"/>
          <p:cNvSpPr/>
          <p:nvPr/>
        </p:nvSpPr>
        <p:spPr>
          <a:xfrm>
            <a:off x="4055364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sp>
        <p:nvSpPr>
          <p:cNvPr id="19" name="Oval 18"/>
          <p:cNvSpPr/>
          <p:nvPr/>
        </p:nvSpPr>
        <p:spPr>
          <a:xfrm>
            <a:off x="4654296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C7D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0C7D72"/>
                </a:solidFill>
                <a:latin typeface="Calibri"/>
              </a:rPr>
              <a:t>8</a:t>
            </a:r>
          </a:p>
        </p:txBody>
      </p:sp>
      <p:sp>
        <p:nvSpPr>
          <p:cNvPr id="20" name="Oval 19"/>
          <p:cNvSpPr/>
          <p:nvPr/>
        </p:nvSpPr>
        <p:spPr>
          <a:xfrm>
            <a:off x="5253228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21" name="Oval 20"/>
          <p:cNvSpPr/>
          <p:nvPr/>
        </p:nvSpPr>
        <p:spPr>
          <a:xfrm>
            <a:off x="5852160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22" name="Oval 21"/>
          <p:cNvSpPr/>
          <p:nvPr/>
        </p:nvSpPr>
        <p:spPr>
          <a:xfrm>
            <a:off x="6451092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C7D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0C7D72"/>
                </a:solidFill>
                <a:latin typeface="Calibri"/>
              </a:rPr>
              <a:t>11</a:t>
            </a:r>
          </a:p>
        </p:txBody>
      </p:sp>
      <p:sp>
        <p:nvSpPr>
          <p:cNvPr id="23" name="Oval 22"/>
          <p:cNvSpPr/>
          <p:nvPr/>
        </p:nvSpPr>
        <p:spPr>
          <a:xfrm>
            <a:off x="7050024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C7D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0C7D72"/>
                </a:solidFill>
                <a:latin typeface="Calibri"/>
              </a:rPr>
              <a:t>12</a:t>
            </a:r>
          </a:p>
        </p:txBody>
      </p:sp>
      <p:sp>
        <p:nvSpPr>
          <p:cNvPr id="24" name="Oval 23"/>
          <p:cNvSpPr/>
          <p:nvPr/>
        </p:nvSpPr>
        <p:spPr>
          <a:xfrm>
            <a:off x="7648956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25" name="Oval 24"/>
          <p:cNvSpPr/>
          <p:nvPr/>
        </p:nvSpPr>
        <p:spPr>
          <a:xfrm>
            <a:off x="8247888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2688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Calibri"/>
              </a:rPr>
              <a:t>1 · Journey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6696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2 · Knowledge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60704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3 · Rules &amp; review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24712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4 · Proposal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1444752"/>
            <a:ext cx="2468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0" i="0">
                <a:solidFill>
                  <a:srgbClr val="0C7D72"/>
                </a:solidFill>
                <a:latin typeface="Calibri"/>
              </a:rPr>
              <a:t>★ dashed = the hops this study adds (8 · 11 · 12)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1700784"/>
            <a:ext cx="1136873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457200" y="1828800"/>
          <a:ext cx="113385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937760"/>
                <a:gridCol w="4389120"/>
              </a:tblGrid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Week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What we did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What it established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864"/>
                          </a:solidFill>
                          <a:latin typeface="Calibri"/>
                        </a:rPr>
                        <a:t>Week 1 — domain &amp; system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Mapped HIB and SSF, openIMIS and the claim lifecycle from the HIB (Aug 2020), HIB / SSF / GIZ (Apr 2024) and MoHP / SIL Nepal (Nov 2024) presentations; dated gap ledger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HIB: 7.7 M enrolled, 4.9 M active (2024); about 50,000 claims a day for 26 central reviewers (10 in 2020); the HIB ↔ SSF silo; National ID named by HIB as the fix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864"/>
                          </a:solidFill>
                          <a:latin typeface="Calibri"/>
                        </a:rPr>
                        <a:t>Week 2 — the problem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Fraud typology (NHCAA, World Bank 2018, EHFCN); how the 26 reviewers separate right from wrong; why that knowledge is tacit; how other countries detect fraud; scope confirmed by the supervisor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Duplicate and cross-scheme claims as the target; a first rule catalog; fraud about 5.5 % of claims and 20–27 % rejections in Nepal (Ranabhat / Ghimire 2022-23; Katmandu Journal, Jan 2026)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864"/>
                          </a:solidFill>
                          <a:latin typeface="Calibri"/>
                        </a:rPr>
                        <a:t>Weeks 3–4 — knowledge base &amp; prototype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Scraped openIMIS knowledge base; HIB expert interview; 25 openIMIS repositories read; two-engine prototype on an 18-claim book; Nepal synthetic generator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openIMIS has no duplicate check (reason 6 commented out); existing engine 0 vs our 6 on the small book; identity resolution is the ceiling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864"/>
                          </a:solidFill>
                          <a:latin typeface="Calibri"/>
                        </a:rPr>
                        <a:t>Week 5 — this deck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The Claim Journey web app (React + Node): 14 hops, ranked queue, reviewer loop; the HIC ontology and naming standards; evaluation on 9,786 synthetic claims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418 of 454 frauds caught at 92 % precision; a ranked queue reaches 418 frauds where the random 5 % sample reaches 17–32; a deployable design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457200" y="5166360"/>
            <a:ext cx="11338560" cy="8229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>
              <a:spcAft>
                <a:spcPts val="500"/>
              </a:spcAft>
            </a:pPr>
            <a:r>
              <a:rPr sz="1150" b="1" i="0">
                <a:solidFill>
                  <a:srgbClr val="1F3864"/>
                </a:solidFill>
                <a:latin typeface="Calibri"/>
              </a:rPr>
              <a:t>The thread: </a:t>
            </a:r>
            <a:r>
              <a:rPr sz="1150" b="0" i="0">
                <a:solidFill>
                  <a:srgbClr val="1F2A37"/>
                </a:solidFill>
                <a:latin typeface="Calibri"/>
              </a:rPr>
              <a:t>Week 1 found that 26 people review 50,000 claims a day and that HIB and SSF cannot see each other; Week 2 named the fraud that exploits both; Weeks 3–5 build and test the knowledge that closes the gap.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openIMIS Nepal — Week 5 · the claim journey, the knowledge base and the proposal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236208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 i="1">
                <a:solidFill>
                  <a:srgbClr val="6B7280"/>
                </a:solidFill>
                <a:latin typeface="Calibri"/>
              </a:rPr>
              <a:t>Sources: HIB presentation (Aug 2020); HIB, SSF and GIZ presentations (Apr 2024); MoHP / SIL Nepal (Nov 2024); World Bank SHI study (2018); NHCAA; Week 2 rule catalog; Week 3-4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PART 1 · THE CLAIM-ADJUDICATION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113385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1F3864"/>
                </a:solidFill>
                <a:latin typeface="Calibri"/>
              </a:rPr>
              <a:t>The claim journey — three lanes, fourteen hops, seven owners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" y="932688"/>
            <a:ext cx="1408176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" y="932688"/>
            <a:ext cx="1408176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Patient visits hospital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58568" y="932688"/>
            <a:ext cx="2606040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58568" y="932688"/>
            <a:ext cx="260604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Health facility submits claim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3228" y="932688"/>
            <a:ext cx="3204972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3228" y="932688"/>
            <a:ext cx="3204972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Claim adjudication by HIB / SSF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300861"/>
            <a:ext cx="7786116" cy="317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1772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Membership
verification</a:t>
            </a:r>
          </a:p>
        </p:txBody>
      </p:sp>
      <p:sp>
        <p:nvSpPr>
          <p:cNvPr id="14" name="Oval 13"/>
          <p:cNvSpPr/>
          <p:nvPr/>
        </p:nvSpPr>
        <p:spPr>
          <a:xfrm>
            <a:off x="1060704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Hospital card
and care</a:t>
            </a:r>
          </a:p>
        </p:txBody>
      </p:sp>
      <p:sp>
        <p:nvSpPr>
          <p:cNvPr id="16" name="Oval 15"/>
          <p:cNvSpPr/>
          <p:nvPr/>
        </p:nvSpPr>
        <p:spPr>
          <a:xfrm>
            <a:off x="1659636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0744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Nothing paid
at the counter</a:t>
            </a:r>
          </a:p>
        </p:txBody>
      </p:sp>
      <p:sp>
        <p:nvSpPr>
          <p:cNvPr id="18" name="Oval 17"/>
          <p:cNvSpPr/>
          <p:nvPr/>
        </p:nvSpPr>
        <p:spPr>
          <a:xfrm>
            <a:off x="2258568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79676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Claim
document</a:t>
            </a:r>
          </a:p>
        </p:txBody>
      </p:sp>
      <p:sp>
        <p:nvSpPr>
          <p:cNvPr id="20" name="Oval 19"/>
          <p:cNvSpPr/>
          <p:nvPr/>
        </p:nvSpPr>
        <p:spPr>
          <a:xfrm>
            <a:off x="2857500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78608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Entered in
openIMIS</a:t>
            </a:r>
          </a:p>
        </p:txBody>
      </p:sp>
      <p:sp>
        <p:nvSpPr>
          <p:cNvPr id="22" name="Oval 21"/>
          <p:cNvSpPr/>
          <p:nvPr/>
        </p:nvSpPr>
        <p:spPr>
          <a:xfrm>
            <a:off x="3456432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77540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Facility check
and submission</a:t>
            </a:r>
          </a:p>
        </p:txBody>
      </p:sp>
      <p:sp>
        <p:nvSpPr>
          <p:cNvPr id="24" name="Oval 23"/>
          <p:cNvSpPr/>
          <p:nvPr/>
        </p:nvSpPr>
        <p:spPr>
          <a:xfrm>
            <a:off x="4055364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76472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System
verification</a:t>
            </a:r>
          </a:p>
        </p:txBody>
      </p:sp>
      <p:sp>
        <p:nvSpPr>
          <p:cNvPr id="26" name="Oval 25"/>
          <p:cNvSpPr/>
          <p:nvPr/>
        </p:nvSpPr>
        <p:spPr>
          <a:xfrm>
            <a:off x="4654296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C7D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0C7D72"/>
                </a:solidFill>
                <a:latin typeface="Calibri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5404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0C7D72"/>
                </a:solidFill>
                <a:latin typeface="Calibri"/>
              </a:rPr>
              <a:t>Identity and
cross-claim rules</a:t>
            </a:r>
          </a:p>
        </p:txBody>
      </p:sp>
      <p:sp>
        <p:nvSpPr>
          <p:cNvPr id="28" name="Oval 27"/>
          <p:cNvSpPr/>
          <p:nvPr/>
        </p:nvSpPr>
        <p:spPr>
          <a:xfrm>
            <a:off x="5253228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74336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Completeness
check</a:t>
            </a:r>
          </a:p>
        </p:txBody>
      </p:sp>
      <p:sp>
        <p:nvSpPr>
          <p:cNvPr id="30" name="Oval 29"/>
          <p:cNvSpPr/>
          <p:nvPr/>
        </p:nvSpPr>
        <p:spPr>
          <a:xfrm>
            <a:off x="5852160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3268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Benefit
package check</a:t>
            </a:r>
          </a:p>
        </p:txBody>
      </p:sp>
      <p:sp>
        <p:nvSpPr>
          <p:cNvPr id="32" name="Oval 31"/>
          <p:cNvSpPr/>
          <p:nvPr/>
        </p:nvSpPr>
        <p:spPr>
          <a:xfrm>
            <a:off x="6451092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C7D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0C7D72"/>
                </a:solidFill>
                <a:latin typeface="Calibri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0C7D72"/>
                </a:solidFill>
                <a:latin typeface="Calibri"/>
              </a:rPr>
              <a:t>Ranked
review queue</a:t>
            </a:r>
          </a:p>
        </p:txBody>
      </p:sp>
      <p:sp>
        <p:nvSpPr>
          <p:cNvPr id="34" name="Oval 33"/>
          <p:cNvSpPr/>
          <p:nvPr/>
        </p:nvSpPr>
        <p:spPr>
          <a:xfrm>
            <a:off x="7050024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C7D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0C7D72"/>
                </a:solidFill>
                <a:latin typeface="Calibri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71132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0C7D72"/>
                </a:solidFill>
                <a:latin typeface="Calibri"/>
              </a:rPr>
              <a:t>Reviewer
decision</a:t>
            </a:r>
          </a:p>
        </p:txBody>
      </p:sp>
      <p:sp>
        <p:nvSpPr>
          <p:cNvPr id="36" name="Oval 35"/>
          <p:cNvSpPr/>
          <p:nvPr/>
        </p:nvSpPr>
        <p:spPr>
          <a:xfrm>
            <a:off x="7648956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70064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Settlement
recommended</a:t>
            </a:r>
          </a:p>
        </p:txBody>
      </p:sp>
      <p:sp>
        <p:nvSpPr>
          <p:cNvPr id="38" name="Oval 37"/>
          <p:cNvSpPr/>
          <p:nvPr/>
        </p:nvSpPr>
        <p:spPr>
          <a:xfrm>
            <a:off x="8247888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68996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Approval and
payment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2688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Calibri"/>
              </a:rPr>
              <a:t>1 · Journey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96696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2 · Knowledge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60704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3 · Rules &amp; review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24712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4 · Proposal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1444752"/>
            <a:ext cx="2468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0" i="0">
                <a:solidFill>
                  <a:srgbClr val="0C7D72"/>
                </a:solidFill>
                <a:latin typeface="Calibri"/>
              </a:rPr>
              <a:t>★ dashed = the hops this study adds (8 · 11 · 12)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1700784"/>
            <a:ext cx="1136873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27657"/>
            <a:ext cx="11384280" cy="2846070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411480" y="1827657"/>
            <a:ext cx="11384280" cy="284607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11480" y="4846320"/>
            <a:ext cx="274320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6072" y="4937760"/>
            <a:ext cx="24688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Rows are owners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6072" y="5193792"/>
            <a:ext cx="246888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Calibri"/>
              </a:rPr>
              <a:t>patient, hospital, openIMIS, our layer, claims desk, Medical Officers, accounts and the Executive Director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291840" y="4846320"/>
            <a:ext cx="274320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56432" y="4937760"/>
            <a:ext cx="24688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Columns are hops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56432" y="5193792"/>
            <a:ext cx="246888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Calibri"/>
              </a:rPr>
              <a:t>HIB's own workflow for claim processing, in its three lanes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72200" y="4846320"/>
            <a:ext cx="274320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36792" y="4937760"/>
            <a:ext cx="24688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Teal is done, the ring is where we are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36792" y="5193792"/>
            <a:ext cx="246888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Calibri"/>
              </a:rPr>
              <a:t>faded hops are skipped for that claim: a rejection jumps 7 → 14, a clean claim 11 → 13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052560" y="4846320"/>
            <a:ext cx="274320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052560" y="4956048"/>
            <a:ext cx="45720" cy="1060704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217152" y="4937760"/>
            <a:ext cx="24688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Dashed teal hops are ours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17152" y="5193792"/>
            <a:ext cx="246888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Calibri"/>
              </a:rPr>
              <a:t>8 identity and cross-claim rules · 11 ranked queue · 12 the reviewer decision that teaches the rules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openIMIS Nepal — Week 5 · the claim journey, the knowledge base and the proposal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1480" y="6236208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 i="1">
                <a:solidFill>
                  <a:srgbClr val="6B7280"/>
                </a:solidFill>
                <a:latin typeface="Calibri"/>
              </a:rPr>
              <a:t>Sources: HIB workflow for claim processing (HIB, 2025); actors and the claim lifecycle, HIB presentation (Apr 2024); the Claim Journey web app, Journey page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PART 1 · PATIENT AND HOSPITAL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113385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1F3864"/>
                </a:solidFill>
                <a:latin typeface="Calibri"/>
              </a:rPr>
              <a:t>Hops 1–3 — the patient visits the hospital, membership is checked in one scheme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" y="932688"/>
            <a:ext cx="1408176" cy="1828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" y="932688"/>
            <a:ext cx="1408176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Patient visits hospital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58568" y="932688"/>
            <a:ext cx="2606040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58568" y="932688"/>
            <a:ext cx="260604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Health facility submits claim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3228" y="932688"/>
            <a:ext cx="3204972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3228" y="932688"/>
            <a:ext cx="3204972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Claim adjudication by HIB / SSF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300861"/>
            <a:ext cx="7786116" cy="317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6052" y="1165860"/>
            <a:ext cx="301752" cy="301752"/>
          </a:xfrm>
          <a:prstGeom prst="ellipse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1772" y="1211580"/>
            <a:ext cx="210312" cy="2103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3864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1F3864"/>
                </a:solidFill>
                <a:latin typeface="Calibri"/>
              </a:rPr>
              <a:t>Membership
verification</a:t>
            </a:r>
          </a:p>
        </p:txBody>
      </p:sp>
      <p:sp>
        <p:nvSpPr>
          <p:cNvPr id="15" name="Oval 14"/>
          <p:cNvSpPr/>
          <p:nvPr/>
        </p:nvSpPr>
        <p:spPr>
          <a:xfrm>
            <a:off x="1014984" y="1165860"/>
            <a:ext cx="301752" cy="301752"/>
          </a:xfrm>
          <a:prstGeom prst="ellipse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60704" y="1211580"/>
            <a:ext cx="210312" cy="2103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3864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1F3864"/>
                </a:solidFill>
                <a:latin typeface="Calibri"/>
              </a:rPr>
              <a:t>Hospital card
and care</a:t>
            </a:r>
          </a:p>
        </p:txBody>
      </p:sp>
      <p:sp>
        <p:nvSpPr>
          <p:cNvPr id="18" name="Oval 17"/>
          <p:cNvSpPr/>
          <p:nvPr/>
        </p:nvSpPr>
        <p:spPr>
          <a:xfrm>
            <a:off x="1613916" y="1165860"/>
            <a:ext cx="301752" cy="301752"/>
          </a:xfrm>
          <a:prstGeom prst="ellipse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659636" y="1211580"/>
            <a:ext cx="210312" cy="2103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3864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0744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1F3864"/>
                </a:solidFill>
                <a:latin typeface="Calibri"/>
              </a:rPr>
              <a:t>Nothing paid
at the counter</a:t>
            </a:r>
          </a:p>
        </p:txBody>
      </p:sp>
      <p:sp>
        <p:nvSpPr>
          <p:cNvPr id="21" name="Oval 20"/>
          <p:cNvSpPr/>
          <p:nvPr/>
        </p:nvSpPr>
        <p:spPr>
          <a:xfrm>
            <a:off x="2258568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sp>
        <p:nvSpPr>
          <p:cNvPr id="22" name="Oval 21"/>
          <p:cNvSpPr/>
          <p:nvPr/>
        </p:nvSpPr>
        <p:spPr>
          <a:xfrm>
            <a:off x="2857500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3456432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sp>
        <p:nvSpPr>
          <p:cNvPr id="24" name="Oval 23"/>
          <p:cNvSpPr/>
          <p:nvPr/>
        </p:nvSpPr>
        <p:spPr>
          <a:xfrm>
            <a:off x="4055364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sp>
        <p:nvSpPr>
          <p:cNvPr id="25" name="Oval 24"/>
          <p:cNvSpPr/>
          <p:nvPr/>
        </p:nvSpPr>
        <p:spPr>
          <a:xfrm>
            <a:off x="4654296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C7D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0C7D72"/>
                </a:solidFill>
                <a:latin typeface="Calibri"/>
              </a:rPr>
              <a:t>8</a:t>
            </a:r>
          </a:p>
        </p:txBody>
      </p:sp>
      <p:sp>
        <p:nvSpPr>
          <p:cNvPr id="26" name="Oval 25"/>
          <p:cNvSpPr/>
          <p:nvPr/>
        </p:nvSpPr>
        <p:spPr>
          <a:xfrm>
            <a:off x="5253228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27" name="Oval 26"/>
          <p:cNvSpPr/>
          <p:nvPr/>
        </p:nvSpPr>
        <p:spPr>
          <a:xfrm>
            <a:off x="5852160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28" name="Oval 27"/>
          <p:cNvSpPr/>
          <p:nvPr/>
        </p:nvSpPr>
        <p:spPr>
          <a:xfrm>
            <a:off x="6451092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C7D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0C7D72"/>
                </a:solidFill>
                <a:latin typeface="Calibri"/>
              </a:rPr>
              <a:t>11</a:t>
            </a:r>
          </a:p>
        </p:txBody>
      </p:sp>
      <p:sp>
        <p:nvSpPr>
          <p:cNvPr id="29" name="Oval 28"/>
          <p:cNvSpPr/>
          <p:nvPr/>
        </p:nvSpPr>
        <p:spPr>
          <a:xfrm>
            <a:off x="7050024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C7D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0C7D72"/>
                </a:solidFill>
                <a:latin typeface="Calibri"/>
              </a:rPr>
              <a:t>12</a:t>
            </a:r>
          </a:p>
        </p:txBody>
      </p:sp>
      <p:sp>
        <p:nvSpPr>
          <p:cNvPr id="30" name="Oval 29"/>
          <p:cNvSpPr/>
          <p:nvPr/>
        </p:nvSpPr>
        <p:spPr>
          <a:xfrm>
            <a:off x="7648956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31" name="Oval 30"/>
          <p:cNvSpPr/>
          <p:nvPr/>
        </p:nvSpPr>
        <p:spPr>
          <a:xfrm>
            <a:off x="8247888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1207008"/>
            <a:ext cx="82296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700" b="0" i="1">
                <a:solidFill>
                  <a:srgbClr val="6B7280"/>
                </a:solidFill>
                <a:latin typeface="Calibri"/>
              </a:rPr>
              <a:t>Hospital · Patient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2688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Calibri"/>
              </a:rPr>
              <a:t>1 · Journey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6696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2 · Knowledge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60704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3 · Rules &amp; review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24712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4 · Proposal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1444752"/>
            <a:ext cx="2468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0" i="0">
                <a:solidFill>
                  <a:srgbClr val="0C7D72"/>
                </a:solidFill>
                <a:latin typeface="Calibri"/>
              </a:rPr>
              <a:t>★ dashed = the hops this study adds (8 · 11 · 12)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1700784"/>
            <a:ext cx="1136873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1828800"/>
            <a:ext cx="5120640" cy="42976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>
              <a:spcAft>
                <a:spcPts val="900"/>
              </a:spcAft>
            </a:pPr>
            <a:r>
              <a:rPr sz="1200" b="1" i="0">
                <a:solidFill>
                  <a:srgbClr val="1F3864"/>
                </a:solidFill>
                <a:latin typeface="Calibri"/>
              </a:rPr>
              <a:t>• Membership verification.</a:t>
            </a:r>
            <a:r>
              <a:rPr sz="1200" b="0" i="0">
                <a:solidFill>
                  <a:srgbClr val="1F2A37"/>
                </a:solidFill>
                <a:latin typeface="Calibri"/>
              </a:rPr>
              <a:t> The front desk looks the patient up in the scheme's openIMIS. HIB's openIMIS knows nothing about SSF, and the other way round.</a:t>
            </a:r>
          </a:p>
          <a:p>
            <a:pPr>
              <a:spcAft>
                <a:spcPts val="900"/>
              </a:spcAft>
            </a:pPr>
            <a:r>
              <a:rPr sz="1200" b="1" i="0">
                <a:solidFill>
                  <a:srgbClr val="1F3864"/>
                </a:solidFill>
                <a:latin typeface="Calibri"/>
              </a:rPr>
              <a:t>• Hospital card and care.</a:t>
            </a:r>
            <a:r>
              <a:rPr sz="1200" b="0" i="0">
                <a:solidFill>
                  <a:srgbClr val="1F2A37"/>
                </a:solidFill>
                <a:latin typeface="Calibri"/>
              </a:rPr>
              <a:t> Treatment follows need and the benefit package: NPR 100,000 per family per year at HIB; the doctor's NMC registration number goes on the prescription.</a:t>
            </a:r>
          </a:p>
          <a:p>
            <a:pPr>
              <a:spcAft>
                <a:spcPts val="900"/>
              </a:spcAft>
            </a:pPr>
            <a:r>
              <a:rPr sz="1200" b="1" i="0">
                <a:solidFill>
                  <a:srgbClr val="1F3864"/>
                </a:solidFill>
                <a:latin typeface="Calibri"/>
              </a:rPr>
              <a:t>• Nothing paid at the counter.</a:t>
            </a:r>
            <a:r>
              <a:rPr sz="1200" b="0" i="0">
                <a:solidFill>
                  <a:srgbClr val="1F2A37"/>
                </a:solidFill>
                <a:latin typeface="Calibri"/>
              </a:rPr>
              <a:t> Money flows scheme → facility, never to the patient (10 % co-payment on diagnostics since January 2024). The facility is the economic beneficiary of every line, which is why fraud enters through the claim.</a:t>
            </a:r>
          </a:p>
          <a:p>
            <a:pPr>
              <a:spcAft>
                <a:spcPts val="900"/>
              </a:spcAft>
            </a:pPr>
            <a:r>
              <a:rPr sz="1200" b="1" i="0">
                <a:solidFill>
                  <a:srgbClr val="1F3864"/>
                </a:solidFill>
                <a:latin typeface="Calibri"/>
              </a:rPr>
              <a:t>• What is already known here.</a:t>
            </a:r>
            <a:r>
              <a:rPr sz="1200" b="0" i="0">
                <a:solidFill>
                  <a:srgbClr val="1F2A37"/>
                </a:solidFill>
                <a:latin typeface="Calibri"/>
              </a:rPr>
              <a:t> Member number, policy status, National ID for about 60 % of adults, and any earlier claims — inside this scheme.</a:t>
            </a:r>
          </a:p>
        </p:txBody>
      </p:sp>
      <p:pic>
        <p:nvPicPr>
          <p:cNvPr id="40" name="Picture 39" descr="j0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248095"/>
            <a:ext cx="5989320" cy="3468234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5806440" y="2248095"/>
            <a:ext cx="5989320" cy="3468234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openIMIS Nepal — Week 5 · the claim journey, the knowledge base and the proposal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6236208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 i="1">
                <a:solidFill>
                  <a:srgbClr val="6B7280"/>
                </a:solidFill>
                <a:latin typeface="Calibri"/>
              </a:rPr>
              <a:t>Sources: HIB presentation (Apr 2024) — benefit package and enrolment; claim adjudication report (2025) — NPR 100,000 ceiling, 10 % co-payment; app: Journey, step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PART 1 · HOSPITAL CLAIM ADMIN AND OPENIMIS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113385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1F3864"/>
                </a:solidFill>
                <a:latin typeface="Calibri"/>
              </a:rPr>
              <a:t>Hops 4–7 — the facility submits, openIMIS checks each claim on its 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" y="932688"/>
            <a:ext cx="1408176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" y="932688"/>
            <a:ext cx="1408176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Patient visits hospital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58568" y="932688"/>
            <a:ext cx="2606040" cy="1828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58568" y="932688"/>
            <a:ext cx="260604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Health facility submits claim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3228" y="932688"/>
            <a:ext cx="3204972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3228" y="932688"/>
            <a:ext cx="3204972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Claim adjudication by HIB / SSF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300861"/>
            <a:ext cx="7786116" cy="317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300861"/>
            <a:ext cx="1197864" cy="31750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1772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1060704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1659636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2212848" y="1165860"/>
            <a:ext cx="301752" cy="301752"/>
          </a:xfrm>
          <a:prstGeom prst="ellipse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258568" y="1211580"/>
            <a:ext cx="210312" cy="2103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3864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9676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1F3864"/>
                </a:solidFill>
                <a:latin typeface="Calibri"/>
              </a:rPr>
              <a:t>Claim
document</a:t>
            </a:r>
          </a:p>
        </p:txBody>
      </p:sp>
      <p:sp>
        <p:nvSpPr>
          <p:cNvPr id="19" name="Oval 18"/>
          <p:cNvSpPr/>
          <p:nvPr/>
        </p:nvSpPr>
        <p:spPr>
          <a:xfrm>
            <a:off x="2811780" y="1165860"/>
            <a:ext cx="301752" cy="301752"/>
          </a:xfrm>
          <a:prstGeom prst="ellipse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857500" y="1211580"/>
            <a:ext cx="210312" cy="2103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3864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78608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1F3864"/>
                </a:solidFill>
                <a:latin typeface="Calibri"/>
              </a:rPr>
              <a:t>Entered in
openIMIS</a:t>
            </a:r>
          </a:p>
        </p:txBody>
      </p:sp>
      <p:sp>
        <p:nvSpPr>
          <p:cNvPr id="22" name="Oval 21"/>
          <p:cNvSpPr/>
          <p:nvPr/>
        </p:nvSpPr>
        <p:spPr>
          <a:xfrm>
            <a:off x="3410712" y="1165860"/>
            <a:ext cx="301752" cy="301752"/>
          </a:xfrm>
          <a:prstGeom prst="ellipse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456432" y="1211580"/>
            <a:ext cx="210312" cy="2103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3864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77540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1F3864"/>
                </a:solidFill>
                <a:latin typeface="Calibri"/>
              </a:rPr>
              <a:t>Facility check
and submission</a:t>
            </a:r>
          </a:p>
        </p:txBody>
      </p:sp>
      <p:sp>
        <p:nvSpPr>
          <p:cNvPr id="25" name="Oval 24"/>
          <p:cNvSpPr/>
          <p:nvPr/>
        </p:nvSpPr>
        <p:spPr>
          <a:xfrm>
            <a:off x="4009644" y="1165860"/>
            <a:ext cx="301752" cy="301752"/>
          </a:xfrm>
          <a:prstGeom prst="ellipse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055364" y="1211580"/>
            <a:ext cx="210312" cy="2103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3864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76472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1F3864"/>
                </a:solidFill>
                <a:latin typeface="Calibri"/>
              </a:rPr>
              <a:t>System
verification</a:t>
            </a:r>
          </a:p>
        </p:txBody>
      </p:sp>
      <p:sp>
        <p:nvSpPr>
          <p:cNvPr id="28" name="Oval 27"/>
          <p:cNvSpPr/>
          <p:nvPr/>
        </p:nvSpPr>
        <p:spPr>
          <a:xfrm>
            <a:off x="4654296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C7D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0C7D72"/>
                </a:solidFill>
                <a:latin typeface="Calibri"/>
              </a:rPr>
              <a:t>8</a:t>
            </a:r>
          </a:p>
        </p:txBody>
      </p:sp>
      <p:sp>
        <p:nvSpPr>
          <p:cNvPr id="29" name="Oval 28"/>
          <p:cNvSpPr/>
          <p:nvPr/>
        </p:nvSpPr>
        <p:spPr>
          <a:xfrm>
            <a:off x="5253228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30" name="Oval 29"/>
          <p:cNvSpPr/>
          <p:nvPr/>
        </p:nvSpPr>
        <p:spPr>
          <a:xfrm>
            <a:off x="5852160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31" name="Oval 30"/>
          <p:cNvSpPr/>
          <p:nvPr/>
        </p:nvSpPr>
        <p:spPr>
          <a:xfrm>
            <a:off x="6451092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C7D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0C7D72"/>
                </a:solidFill>
                <a:latin typeface="Calibri"/>
              </a:rPr>
              <a:t>11</a:t>
            </a:r>
          </a:p>
        </p:txBody>
      </p:sp>
      <p:sp>
        <p:nvSpPr>
          <p:cNvPr id="32" name="Oval 31"/>
          <p:cNvSpPr/>
          <p:nvPr/>
        </p:nvSpPr>
        <p:spPr>
          <a:xfrm>
            <a:off x="7050024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C7D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0C7D72"/>
                </a:solidFill>
                <a:latin typeface="Calibri"/>
              </a:rPr>
              <a:t>12</a:t>
            </a:r>
          </a:p>
        </p:txBody>
      </p:sp>
      <p:sp>
        <p:nvSpPr>
          <p:cNvPr id="33" name="Oval 32"/>
          <p:cNvSpPr/>
          <p:nvPr/>
        </p:nvSpPr>
        <p:spPr>
          <a:xfrm>
            <a:off x="7648956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34" name="Oval 33"/>
          <p:cNvSpPr/>
          <p:nvPr/>
        </p:nvSpPr>
        <p:spPr>
          <a:xfrm>
            <a:off x="8247888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2520" y="1207008"/>
            <a:ext cx="82296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700" b="0" i="1">
                <a:solidFill>
                  <a:srgbClr val="6B7280"/>
                </a:solidFill>
                <a:latin typeface="Calibri"/>
              </a:rPr>
              <a:t>Hospital · openIMIS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2688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Calibri"/>
              </a:rPr>
              <a:t>1 · Journey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96696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2 · Knowledge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60704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3 · Rules &amp; review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24712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4 · Proposal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1444752"/>
            <a:ext cx="2468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0" i="0">
                <a:solidFill>
                  <a:srgbClr val="0C7D72"/>
                </a:solidFill>
                <a:latin typeface="Calibri"/>
              </a:rPr>
              <a:t>★ dashed = the hops this study adds (8 · 11 · 12)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1700784"/>
            <a:ext cx="1136873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1828800"/>
            <a:ext cx="5120640" cy="42976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>
              <a:spcAft>
                <a:spcPts val="800"/>
              </a:spcAft>
            </a:pPr>
            <a:r>
              <a:rPr sz="1150" b="1" i="0">
                <a:solidFill>
                  <a:srgbClr val="1F3864"/>
                </a:solidFill>
                <a:latin typeface="Calibri"/>
              </a:rPr>
              <a:t>• Claim document (4).</a:t>
            </a:r>
            <a:r>
              <a:rPr sz="1150" b="0" i="0">
                <a:solidFill>
                  <a:srgbClr val="1F2A37"/>
                </a:solidFill>
                <a:latin typeface="Calibri"/>
              </a:rPr>
              <a:t> Card, invoices, discharge summary or OPD ticket, prescription with the NMC number.</a:t>
            </a:r>
          </a:p>
          <a:p>
            <a:pPr>
              <a:spcAft>
                <a:spcPts val="800"/>
              </a:spcAft>
            </a:pPr>
            <a:r>
              <a:rPr sz="1150" b="1" i="0">
                <a:solidFill>
                  <a:srgbClr val="1F3864"/>
                </a:solidFill>
                <a:latin typeface="Calibri"/>
              </a:rPr>
              <a:t>• Entered in openIMIS (5).</a:t>
            </a:r>
            <a:r>
              <a:rPr sz="1150" b="0" i="0">
                <a:solidFill>
                  <a:srgbClr val="1F2A37"/>
                </a:solidFill>
                <a:latin typeface="Calibri"/>
              </a:rPr>
              <a:t> Keyed in, or sent by the EMR as an HL7 FHIR R4 Claim; about 70 % of HIB-empanelled hospitals submit electronically. A Bikram-Sambat claim code is assigned, e.g. 2083-084-000123.</a:t>
            </a:r>
          </a:p>
          <a:p>
            <a:pPr>
              <a:spcAft>
                <a:spcPts val="800"/>
              </a:spcAft>
            </a:pPr>
            <a:r>
              <a:rPr sz="1150" b="1" i="0">
                <a:solidFill>
                  <a:srgbClr val="1F3864"/>
                </a:solidFill>
                <a:latin typeface="Calibri"/>
              </a:rPr>
              <a:t>• Facility verification (6).</a:t>
            </a:r>
            <a:r>
              <a:rPr sz="1150" b="0" i="0">
                <a:solidFill>
                  <a:srgbClr val="1F2A37"/>
                </a:solidFill>
                <a:latin typeface="Calibri"/>
              </a:rPr>
              <a:t> HIB rejects about one claim in five, mostly for a missing NMC number, tests without prescriptions and medicines that differ from the prescription.</a:t>
            </a:r>
          </a:p>
          <a:p>
            <a:pPr>
              <a:spcAft>
                <a:spcPts val="800"/>
              </a:spcAft>
            </a:pPr>
            <a:r>
              <a:rPr sz="1150" b="1" i="0">
                <a:solidFill>
                  <a:srgbClr val="1F3864"/>
                </a:solidFill>
                <a:latin typeface="Calibri"/>
              </a:rPr>
              <a:t>• System verification (7).</a:t>
            </a:r>
            <a:r>
              <a:rPr sz="1150" b="0" i="0">
                <a:solidFill>
                  <a:srgbClr val="1F2A37"/>
                </a:solidFill>
                <a:latin typeface="Calibri"/>
              </a:rPr>
              <a:t> validate_claim runs the edits: dates, coverage, member, price list, care type, category, quantity cap, waiting period. Two edits are switched off in the code: reason 6 duplicated and reason 8 diagnosis not in list.</a:t>
            </a:r>
          </a:p>
        </p:txBody>
      </p:sp>
      <p:pic>
        <p:nvPicPr>
          <p:cNvPr id="43" name="Picture 42" descr="j6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6475" y="1810512"/>
            <a:ext cx="5429250" cy="4343400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6086475" y="1810512"/>
            <a:ext cx="5429250" cy="434340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openIMIS Nepal — Week 5 · the claim journey, the knowledge base and the proposal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" y="6236208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 i="1">
                <a:solidFill>
                  <a:srgbClr val="6B7280"/>
                </a:solidFill>
                <a:latin typeface="Calibri"/>
              </a:rPr>
              <a:t>Sources: MoHP / SIL Nepal (Nov 2024) — 180+ EMRs on FHIR; claim adjudication report (2025) — rejection causes; openimis-be-claim_py, claim/validations.py lines 38, 40, 1098 ff.; app: Journey, step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PART 1 · HIB CLAIMS DESK, MEDICAL OFFICERS, ACCOUNTS, EXECUTIVE DIRECTOR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113385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1F3864"/>
                </a:solidFill>
                <a:latin typeface="Calibri"/>
              </a:rPr>
              <a:t>Hops 9–14 — adjudication, a random sample, then money that cannot be recalled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" y="932688"/>
            <a:ext cx="1408176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" y="932688"/>
            <a:ext cx="1408176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Patient visits hospital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58568" y="932688"/>
            <a:ext cx="2606040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58568" y="932688"/>
            <a:ext cx="260604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Health facility submits claim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3228" y="932688"/>
            <a:ext cx="3204972" cy="1828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3228" y="932688"/>
            <a:ext cx="3204972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Claim adjudication by HIB / SSF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300861"/>
            <a:ext cx="7786116" cy="317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300861"/>
            <a:ext cx="4192524" cy="31750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1772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1060704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1659636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2258568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2857500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Oval 17"/>
          <p:cNvSpPr/>
          <p:nvPr/>
        </p:nvSpPr>
        <p:spPr>
          <a:xfrm>
            <a:off x="3456432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9" name="Oval 18"/>
          <p:cNvSpPr/>
          <p:nvPr/>
        </p:nvSpPr>
        <p:spPr>
          <a:xfrm>
            <a:off x="4055364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0" name="Oval 19"/>
          <p:cNvSpPr/>
          <p:nvPr/>
        </p:nvSpPr>
        <p:spPr>
          <a:xfrm>
            <a:off x="4654296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1" name="Oval 20"/>
          <p:cNvSpPr/>
          <p:nvPr/>
        </p:nvSpPr>
        <p:spPr>
          <a:xfrm>
            <a:off x="5207508" y="1165860"/>
            <a:ext cx="301752" cy="301752"/>
          </a:xfrm>
          <a:prstGeom prst="ellipse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53228" y="1211580"/>
            <a:ext cx="210312" cy="2103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3864"/>
                </a:solidFill>
                <a:latin typeface="Calibri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74336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1F3864"/>
                </a:solidFill>
                <a:latin typeface="Calibri"/>
              </a:rPr>
              <a:t>Completeness
check</a:t>
            </a:r>
          </a:p>
        </p:txBody>
      </p:sp>
      <p:sp>
        <p:nvSpPr>
          <p:cNvPr id="24" name="Oval 23"/>
          <p:cNvSpPr/>
          <p:nvPr/>
        </p:nvSpPr>
        <p:spPr>
          <a:xfrm>
            <a:off x="5806440" y="1165860"/>
            <a:ext cx="301752" cy="301752"/>
          </a:xfrm>
          <a:prstGeom prst="ellipse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52160" y="1211580"/>
            <a:ext cx="210312" cy="2103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3864"/>
                </a:solidFill>
                <a:latin typeface="Calibri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3268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1F3864"/>
                </a:solidFill>
                <a:latin typeface="Calibri"/>
              </a:rPr>
              <a:t>Benefit
package check</a:t>
            </a:r>
          </a:p>
        </p:txBody>
      </p:sp>
      <p:sp>
        <p:nvSpPr>
          <p:cNvPr id="27" name="Oval 26"/>
          <p:cNvSpPr/>
          <p:nvPr/>
        </p:nvSpPr>
        <p:spPr>
          <a:xfrm>
            <a:off x="6405372" y="1165860"/>
            <a:ext cx="301752" cy="301752"/>
          </a:xfrm>
          <a:prstGeom prst="ellipse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51092" y="1211580"/>
            <a:ext cx="210312" cy="2103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3864"/>
                </a:solidFill>
                <a:latin typeface="Calibri"/>
              </a:rPr>
              <a:t>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1F3864"/>
                </a:solidFill>
                <a:latin typeface="Calibri"/>
              </a:rPr>
              <a:t>Ranked
review queue</a:t>
            </a:r>
          </a:p>
        </p:txBody>
      </p:sp>
      <p:sp>
        <p:nvSpPr>
          <p:cNvPr id="30" name="Oval 29"/>
          <p:cNvSpPr/>
          <p:nvPr/>
        </p:nvSpPr>
        <p:spPr>
          <a:xfrm>
            <a:off x="7004304" y="1165860"/>
            <a:ext cx="301752" cy="301752"/>
          </a:xfrm>
          <a:prstGeom prst="ellipse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50024" y="1211580"/>
            <a:ext cx="210312" cy="2103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3864"/>
                </a:solidFill>
                <a:latin typeface="Calibri"/>
              </a:rPr>
              <a:t>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71132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1F3864"/>
                </a:solidFill>
                <a:latin typeface="Calibri"/>
              </a:rPr>
              <a:t>Reviewer
decision</a:t>
            </a:r>
          </a:p>
        </p:txBody>
      </p:sp>
      <p:sp>
        <p:nvSpPr>
          <p:cNvPr id="33" name="Oval 32"/>
          <p:cNvSpPr/>
          <p:nvPr/>
        </p:nvSpPr>
        <p:spPr>
          <a:xfrm>
            <a:off x="7603236" y="1165860"/>
            <a:ext cx="301752" cy="301752"/>
          </a:xfrm>
          <a:prstGeom prst="ellipse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648956" y="1211580"/>
            <a:ext cx="210312" cy="2103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3864"/>
                </a:solidFill>
                <a:latin typeface="Calibri"/>
              </a:rPr>
              <a:t>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70064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1F3864"/>
                </a:solidFill>
                <a:latin typeface="Calibri"/>
              </a:rPr>
              <a:t>Settlement
recommended</a:t>
            </a:r>
          </a:p>
        </p:txBody>
      </p:sp>
      <p:sp>
        <p:nvSpPr>
          <p:cNvPr id="36" name="Oval 35"/>
          <p:cNvSpPr/>
          <p:nvPr/>
        </p:nvSpPr>
        <p:spPr>
          <a:xfrm>
            <a:off x="8202168" y="1165860"/>
            <a:ext cx="301752" cy="301752"/>
          </a:xfrm>
          <a:prstGeom prst="ellipse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247888" y="1211580"/>
            <a:ext cx="210312" cy="2103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3864"/>
                </a:solidFill>
                <a:latin typeface="Calibri"/>
              </a:rPr>
              <a:t>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68996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1F3864"/>
                </a:solidFill>
                <a:latin typeface="Calibri"/>
              </a:rPr>
              <a:t>Approval and
payment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32520" y="1207008"/>
            <a:ext cx="82296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700" b="0" i="1">
                <a:solidFill>
                  <a:srgbClr val="6B7280"/>
                </a:solidFill>
                <a:latin typeface="Calibri"/>
              </a:rPr>
              <a:t>Claims desk · Medical Officers · Accounts · Exec. Director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2688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Calibri"/>
              </a:rPr>
              <a:t>1 · Journey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96696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2 · Knowledge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60704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3 · Rules &amp; review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24712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4 · Proposal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1444752"/>
            <a:ext cx="2468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0" i="0">
                <a:solidFill>
                  <a:srgbClr val="0C7D72"/>
                </a:solidFill>
                <a:latin typeface="Calibri"/>
              </a:rPr>
              <a:t>★ dashed = the hops this study adds (8 · 11 · 12)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1700784"/>
            <a:ext cx="1136873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1828800"/>
            <a:ext cx="5120640" cy="42976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>
              <a:spcAft>
                <a:spcPts val="900"/>
              </a:spcAft>
            </a:pPr>
            <a:r>
              <a:rPr sz="1150" b="1" i="0">
                <a:solidFill>
                  <a:srgbClr val="1F3864"/>
                </a:solidFill>
                <a:latin typeface="Calibri"/>
              </a:rPr>
              <a:t>• Completeness and benefit-package checks (9–10).</a:t>
            </a:r>
            <a:r>
              <a:rPr sz="1150" b="0" i="0">
                <a:solidFill>
                  <a:srgbClr val="1F2A37"/>
                </a:solidFill>
                <a:latin typeface="Calibri"/>
              </a:rPr>
              <a:t> Attachments, NMC number, prescription coverage, identity on the card, policy in force, prices, annual ceiling.</a:t>
            </a:r>
          </a:p>
          <a:p>
            <a:pPr>
              <a:spcAft>
                <a:spcPts val="900"/>
              </a:spcAft>
            </a:pPr>
            <a:r>
              <a:rPr sz="1150" b="1" i="0">
                <a:solidFill>
                  <a:srgbClr val="1F3864"/>
                </a:solidFill>
                <a:latin typeface="Calibri"/>
              </a:rPr>
              <a:t>• Manual review (11–12).</a:t>
            </a:r>
            <a:r>
              <a:rPr sz="1150" b="0" i="0">
                <a:solidFill>
                  <a:srgbClr val="1F2A37"/>
                </a:solidFill>
                <a:latin typeface="Calibri"/>
              </a:rPr>
              <a:t> Medical Officers examine a random 5 % sample; the rest is never opened. Reviewers apply their own clinical logic, which is not written down anywhere.</a:t>
            </a:r>
          </a:p>
          <a:p>
            <a:pPr>
              <a:spcAft>
                <a:spcPts val="900"/>
              </a:spcAft>
            </a:pPr>
            <a:r>
              <a:rPr sz="1150" b="1" i="0">
                <a:solidFill>
                  <a:srgbClr val="1F3864"/>
                </a:solidFill>
                <a:latin typeface="Calibri"/>
              </a:rPr>
              <a:t>• Settlement and payment (13–14).</a:t>
            </a:r>
            <a:r>
              <a:rPr sz="1150" b="0" i="0">
                <a:solidFill>
                  <a:srgbClr val="1F2A37"/>
                </a:solidFill>
                <a:latin typeface="Calibri"/>
              </a:rPr>
              <a:t> The account section recommends the amount, the Executive Director approves, payment is made online after the monthly batch. After that, a wrong payment is a recovery case, not a correction.</a:t>
            </a:r>
          </a:p>
          <a:p>
            <a:pPr>
              <a:spcAft>
                <a:spcPts val="900"/>
              </a:spcAft>
            </a:pPr>
            <a:r>
              <a:rPr sz="1150" b="1" i="0">
                <a:solidFill>
                  <a:srgbClr val="1F3864"/>
                </a:solidFill>
                <a:latin typeface="Calibri"/>
              </a:rPr>
              <a:t>• The claim you saw</a:t>
            </a:r>
            <a:r>
              <a:rPr sz="1150" b="0" i="0">
                <a:solidFill>
                  <a:srgbClr val="1F2A37"/>
                </a:solidFill>
                <a:latin typeface="Calibri"/>
              </a:rPr>
              <a:t> was paid by HIB at Bir Hospital and claimed again at TUTH under SSF. Both systems said yes.</a:t>
            </a:r>
          </a:p>
        </p:txBody>
      </p:sp>
      <p:pic>
        <p:nvPicPr>
          <p:cNvPr id="47" name="Picture 46" descr="j13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393" y="1810512"/>
            <a:ext cx="5061414" cy="43434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270393" y="1810512"/>
            <a:ext cx="5061414" cy="434340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openIMIS Nepal — Week 5 · the claim journey, the knowledge base and the proposal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" y="6236208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 i="1">
                <a:solidFill>
                  <a:srgbClr val="6B7280"/>
                </a:solidFill>
                <a:latin typeface="Calibri"/>
              </a:rPr>
              <a:t>Sources: HIB presentation (Apr 2024) — 26 reviewers, Executive Director approval; HIB domain-expert interview (2025) — random sampling, reviewers' own logic; app: Journey, step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PART 1 · BETWEEN HOP 7 AND HOP 9 · WHAT WE FOUND IN THE CODE AND THE INTERVIEWS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113385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1F3864"/>
                </a:solidFill>
                <a:latin typeface="Calibri"/>
              </a:rPr>
              <a:t>The gap — nobody compares a claim with the person's other claims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" y="932688"/>
            <a:ext cx="1408176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" y="932688"/>
            <a:ext cx="1408176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Patient visits hospital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58568" y="932688"/>
            <a:ext cx="2606040" cy="1828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58568" y="932688"/>
            <a:ext cx="260604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Health facility submits claim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3228" y="932688"/>
            <a:ext cx="3204972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3228" y="932688"/>
            <a:ext cx="3204972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Claim adjudication by HIB / SSF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300861"/>
            <a:ext cx="7786116" cy="317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300861"/>
            <a:ext cx="2994660" cy="31750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1772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1060704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1659636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2258568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2857500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Oval 17"/>
          <p:cNvSpPr/>
          <p:nvPr/>
        </p:nvSpPr>
        <p:spPr>
          <a:xfrm>
            <a:off x="3456432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9" name="Oval 18"/>
          <p:cNvSpPr/>
          <p:nvPr/>
        </p:nvSpPr>
        <p:spPr>
          <a:xfrm>
            <a:off x="4009644" y="1165860"/>
            <a:ext cx="301752" cy="301752"/>
          </a:xfrm>
          <a:prstGeom prst="ellipse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055364" y="1211580"/>
            <a:ext cx="210312" cy="2103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3864"/>
                </a:solidFill>
                <a:latin typeface="Calibri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76472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1F3864"/>
                </a:solidFill>
                <a:latin typeface="Calibri"/>
              </a:rPr>
              <a:t>System
verification</a:t>
            </a:r>
          </a:p>
        </p:txBody>
      </p:sp>
      <p:sp>
        <p:nvSpPr>
          <p:cNvPr id="22" name="Oval 21"/>
          <p:cNvSpPr/>
          <p:nvPr/>
        </p:nvSpPr>
        <p:spPr>
          <a:xfrm>
            <a:off x="4654296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C7D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0C7D72"/>
                </a:solidFill>
                <a:latin typeface="Calibri"/>
              </a:rPr>
              <a:t>8</a:t>
            </a:r>
          </a:p>
        </p:txBody>
      </p:sp>
      <p:sp>
        <p:nvSpPr>
          <p:cNvPr id="23" name="Oval 22"/>
          <p:cNvSpPr/>
          <p:nvPr/>
        </p:nvSpPr>
        <p:spPr>
          <a:xfrm>
            <a:off x="5253228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24" name="Oval 23"/>
          <p:cNvSpPr/>
          <p:nvPr/>
        </p:nvSpPr>
        <p:spPr>
          <a:xfrm>
            <a:off x="5852160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25" name="Oval 24"/>
          <p:cNvSpPr/>
          <p:nvPr/>
        </p:nvSpPr>
        <p:spPr>
          <a:xfrm>
            <a:off x="6451092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C7D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0C7D72"/>
                </a:solidFill>
                <a:latin typeface="Calibri"/>
              </a:rPr>
              <a:t>11</a:t>
            </a:r>
          </a:p>
        </p:txBody>
      </p:sp>
      <p:sp>
        <p:nvSpPr>
          <p:cNvPr id="26" name="Oval 25"/>
          <p:cNvSpPr/>
          <p:nvPr/>
        </p:nvSpPr>
        <p:spPr>
          <a:xfrm>
            <a:off x="7050024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C7D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0C7D72"/>
                </a:solidFill>
                <a:latin typeface="Calibri"/>
              </a:rPr>
              <a:t>12</a:t>
            </a:r>
          </a:p>
        </p:txBody>
      </p:sp>
      <p:sp>
        <p:nvSpPr>
          <p:cNvPr id="27" name="Oval 26"/>
          <p:cNvSpPr/>
          <p:nvPr/>
        </p:nvSpPr>
        <p:spPr>
          <a:xfrm>
            <a:off x="7648956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28" name="Oval 27"/>
          <p:cNvSpPr/>
          <p:nvPr/>
        </p:nvSpPr>
        <p:spPr>
          <a:xfrm>
            <a:off x="8247888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1207008"/>
            <a:ext cx="82296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700" b="0" i="1">
                <a:solidFill>
                  <a:srgbClr val="6B7280"/>
                </a:solidFill>
                <a:latin typeface="Calibri"/>
              </a:rPr>
              <a:t>openIMIS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2688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Calibri"/>
              </a:rPr>
              <a:t>1 · Journey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6696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2 · Knowledge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60704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3 · Rules &amp; review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24712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4 · Proposal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1444752"/>
            <a:ext cx="2468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0" i="0">
                <a:solidFill>
                  <a:srgbClr val="0C7D72"/>
                </a:solidFill>
                <a:latin typeface="Calibri"/>
              </a:rPr>
              <a:t>★ dashed = the hops this study adds (8 · 11 · 12)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1700784"/>
            <a:ext cx="1136873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457200" y="1828800"/>
          <a:ext cx="11338558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2062"/>
                <a:gridCol w="4656908"/>
                <a:gridCol w="3239588"/>
              </a:tblGrid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What an honest system would ask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openIMIS today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Where we found it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</a:rPr>
                        <a:t>Has this service already been billed for this person today?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Reason 6 DUPLICATED is commented out; zero references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claim/validations.py:38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</a:rPr>
                        <a:t>Does the diagnosis justify the treatment?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Reason 8 ICD_NOT_IN_LIST is commented out; no protocol in the system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claim/validations.py:40 · HIB expert: 'standard treatment protocol'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</a:rPr>
                        <a:t>Was this person treated twice at once?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No check; the frequency edit only runs if a service has a frequency set (none do)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claim/validations.py:1636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</a:rPr>
                        <a:t>Has the other scheme already paid for this?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Impossible: HIB and SSF are separate openIMIS instances with separate ledgers; no shared person identifier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openIMIS Nepal, SSF wiki · knowledge base 04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</a:rPr>
                        <a:t>Is this a rejected claim coming back with new codes?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No memory of rejections across submissions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claim.services enter_and_submit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</a:rPr>
                        <a:t>Which claims should a reviewer open first?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claim_sampling: random.shuffle, 5 %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openimis-be-claim_sampling_py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7" name="Rounded Rectangle 36"/>
          <p:cNvSpPr/>
          <p:nvPr/>
        </p:nvSpPr>
        <p:spPr>
          <a:xfrm>
            <a:off x="457200" y="5257800"/>
            <a:ext cx="11338560" cy="822960"/>
          </a:xfrm>
          <a:prstGeom prst="roundRect">
            <a:avLst>
              <a:gd name="adj" fmla="val 10000"/>
            </a:avLst>
          </a:prstGeom>
          <a:solidFill>
            <a:srgbClr val="E6F6F3"/>
          </a:solidFill>
          <a:ln w="9525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330952"/>
            <a:ext cx="10972800" cy="7315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>
              <a:spcAft>
                <a:spcPts val="500"/>
              </a:spcAft>
            </a:pPr>
            <a:r>
              <a:rPr sz="1200" b="1" i="0">
                <a:solidFill>
                  <a:srgbClr val="0C7D72"/>
                </a:solidFill>
                <a:latin typeface="Calibri"/>
              </a:rPr>
              <a:t>This is the study's scope. </a:t>
            </a:r>
            <a:r>
              <a:rPr sz="1200" b="0" i="0">
                <a:solidFill>
                  <a:srgbClr val="1F2A37"/>
                </a:solidFill>
                <a:latin typeface="Calibri"/>
              </a:rPr>
              <a:t>A knowledge-based layer that resolves who the person is, keeps the claim history across facilities and schemes, applies explainable rules, and ranks claims for the reviewer. It never rejects: it explains.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openIMIS Nepal — Week 5 · the claim journey, the knowledge base and the proposal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6236208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 i="1">
                <a:solidFill>
                  <a:srgbClr val="6B7280"/>
                </a:solidFill>
                <a:latin typeface="Calibri"/>
              </a:rPr>
              <a:t>Sources: openIMIS repositories (cloned and read, 2026); HIB / GIZ (Apr 2024) — the HIB ↔ SSF silo; HIB expert interview (2025); Week 2 rule catalog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00200"/>
            <a:ext cx="1280160" cy="76200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Part 2  ·  Rijan Ghimire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743200"/>
            <a:ext cx="1060704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800" b="0" i="0">
                <a:solidFill>
                  <a:srgbClr val="C7D2E8"/>
                </a:solidFill>
                <a:latin typeface="Calibri"/>
              </a:rPr>
              <a:t>Ontology and knowledge base — our sources, the standards a Nepali claim uses, and the synthetic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4160520"/>
            <a:ext cx="11643055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1772" y="4242816"/>
            <a:ext cx="1408176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" y="4242816"/>
            <a:ext cx="1408176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Patient visits hospital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58568" y="4242816"/>
            <a:ext cx="2606040" cy="1828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58568" y="4242816"/>
            <a:ext cx="260604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Health facility submits claim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3228" y="4242816"/>
            <a:ext cx="3204972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3228" y="4242816"/>
            <a:ext cx="3204972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Claim adjudication by HIB / SSF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610989"/>
            <a:ext cx="7786116" cy="317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4610989"/>
            <a:ext cx="3593592" cy="31750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1772" y="4521708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Membership
verification</a:t>
            </a:r>
          </a:p>
        </p:txBody>
      </p:sp>
      <p:sp>
        <p:nvSpPr>
          <p:cNvPr id="17" name="Oval 16"/>
          <p:cNvSpPr/>
          <p:nvPr/>
        </p:nvSpPr>
        <p:spPr>
          <a:xfrm>
            <a:off x="1060704" y="4521708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Hospital card
and care</a:t>
            </a:r>
          </a:p>
        </p:txBody>
      </p:sp>
      <p:sp>
        <p:nvSpPr>
          <p:cNvPr id="19" name="Oval 18"/>
          <p:cNvSpPr/>
          <p:nvPr/>
        </p:nvSpPr>
        <p:spPr>
          <a:xfrm>
            <a:off x="1659636" y="4521708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0744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Nothing paid
at the counter</a:t>
            </a:r>
          </a:p>
        </p:txBody>
      </p:sp>
      <p:sp>
        <p:nvSpPr>
          <p:cNvPr id="21" name="Oval 20"/>
          <p:cNvSpPr/>
          <p:nvPr/>
        </p:nvSpPr>
        <p:spPr>
          <a:xfrm>
            <a:off x="2258568" y="4521708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9676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Claim
document</a:t>
            </a:r>
          </a:p>
        </p:txBody>
      </p:sp>
      <p:sp>
        <p:nvSpPr>
          <p:cNvPr id="23" name="Oval 22"/>
          <p:cNvSpPr/>
          <p:nvPr/>
        </p:nvSpPr>
        <p:spPr>
          <a:xfrm>
            <a:off x="2857500" y="4521708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78608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Entered in
openIMIS</a:t>
            </a:r>
          </a:p>
        </p:txBody>
      </p:sp>
      <p:sp>
        <p:nvSpPr>
          <p:cNvPr id="25" name="Oval 24"/>
          <p:cNvSpPr/>
          <p:nvPr/>
        </p:nvSpPr>
        <p:spPr>
          <a:xfrm>
            <a:off x="3456432" y="4521708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77540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Facility check
and submission</a:t>
            </a:r>
          </a:p>
        </p:txBody>
      </p:sp>
      <p:sp>
        <p:nvSpPr>
          <p:cNvPr id="27" name="Oval 26"/>
          <p:cNvSpPr/>
          <p:nvPr/>
        </p:nvSpPr>
        <p:spPr>
          <a:xfrm>
            <a:off x="4055364" y="4521708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76472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System
verification</a:t>
            </a:r>
          </a:p>
        </p:txBody>
      </p:sp>
      <p:sp>
        <p:nvSpPr>
          <p:cNvPr id="29" name="Oval 28"/>
          <p:cNvSpPr/>
          <p:nvPr/>
        </p:nvSpPr>
        <p:spPr>
          <a:xfrm>
            <a:off x="4608576" y="4475988"/>
            <a:ext cx="301752" cy="301752"/>
          </a:xfrm>
          <a:prstGeom prst="ellipse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54296" y="4521708"/>
            <a:ext cx="210312" cy="2103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3864"/>
                </a:solidFill>
                <a:latin typeface="Calibri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5404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1" i="0">
                <a:solidFill>
                  <a:srgbClr val="1F3864"/>
                </a:solidFill>
                <a:latin typeface="Calibri"/>
              </a:rPr>
              <a:t>Identity and
cross-claim rules</a:t>
            </a:r>
          </a:p>
        </p:txBody>
      </p:sp>
      <p:sp>
        <p:nvSpPr>
          <p:cNvPr id="32" name="Oval 31"/>
          <p:cNvSpPr/>
          <p:nvPr/>
        </p:nvSpPr>
        <p:spPr>
          <a:xfrm>
            <a:off x="5253228" y="4521708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74336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Completeness
check</a:t>
            </a:r>
          </a:p>
        </p:txBody>
      </p:sp>
      <p:sp>
        <p:nvSpPr>
          <p:cNvPr id="34" name="Oval 33"/>
          <p:cNvSpPr/>
          <p:nvPr/>
        </p:nvSpPr>
        <p:spPr>
          <a:xfrm>
            <a:off x="5852160" y="4521708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3268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Benefit
package check</a:t>
            </a:r>
          </a:p>
        </p:txBody>
      </p:sp>
      <p:sp>
        <p:nvSpPr>
          <p:cNvPr id="36" name="Oval 35"/>
          <p:cNvSpPr/>
          <p:nvPr/>
        </p:nvSpPr>
        <p:spPr>
          <a:xfrm>
            <a:off x="6451092" y="4521708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C7D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0C7D72"/>
                </a:solidFill>
                <a:latin typeface="Calibri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0C7D72"/>
                </a:solidFill>
                <a:latin typeface="Calibri"/>
              </a:rPr>
              <a:t>Ranked
review queue</a:t>
            </a:r>
          </a:p>
        </p:txBody>
      </p:sp>
      <p:sp>
        <p:nvSpPr>
          <p:cNvPr id="38" name="Oval 37"/>
          <p:cNvSpPr/>
          <p:nvPr/>
        </p:nvSpPr>
        <p:spPr>
          <a:xfrm>
            <a:off x="7050024" y="4521708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C7D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0C7D72"/>
                </a:solidFill>
                <a:latin typeface="Calibri"/>
              </a:rP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71132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0C7D72"/>
                </a:solidFill>
                <a:latin typeface="Calibri"/>
              </a:rPr>
              <a:t>Reviewer
decision</a:t>
            </a:r>
          </a:p>
        </p:txBody>
      </p:sp>
      <p:sp>
        <p:nvSpPr>
          <p:cNvPr id="40" name="Oval 39"/>
          <p:cNvSpPr/>
          <p:nvPr/>
        </p:nvSpPr>
        <p:spPr>
          <a:xfrm>
            <a:off x="7648956" y="4521708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70064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Settlement
recommended</a:t>
            </a:r>
          </a:p>
        </p:txBody>
      </p:sp>
      <p:sp>
        <p:nvSpPr>
          <p:cNvPr id="42" name="Oval 41"/>
          <p:cNvSpPr/>
          <p:nvPr/>
        </p:nvSpPr>
        <p:spPr>
          <a:xfrm>
            <a:off x="8247888" y="4521708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68996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Approval and
payment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4517136"/>
            <a:ext cx="82296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700" b="0" i="1">
                <a:solidFill>
                  <a:srgbClr val="6B7280"/>
                </a:solidFill>
                <a:latin typeface="Calibri"/>
              </a:rPr>
              <a:t>Our layer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326880" y="4279392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1 · Journey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966960" y="4279392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Calibri"/>
              </a:rPr>
              <a:t>2 · Knowledge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607040" y="4279392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3 · Rules &amp; review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247120" y="4279392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4 · Proposal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4754880"/>
            <a:ext cx="2468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0" i="0">
                <a:solidFill>
                  <a:srgbClr val="0C7D72"/>
                </a:solidFill>
                <a:latin typeface="Calibri"/>
              </a:rPr>
              <a:t>★ dashed = the hops this study adds (8 · 11 · 12)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5010912"/>
            <a:ext cx="1136873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" y="5760720"/>
            <a:ext cx="106070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9FB0CE"/>
                </a:solidFill>
                <a:latin typeface="Calibri"/>
              </a:rPr>
              <a:t>openIMIS Nepal — Week 5 · the claim journey, the knowledge base and the proposal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PART 2 · SOURCES WITH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113385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1F3864"/>
                </a:solidFill>
                <a:latin typeface="Calibri"/>
              </a:rPr>
              <a:t>The knowledge base — what we know and where it came from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" y="932688"/>
            <a:ext cx="1408176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" y="932688"/>
            <a:ext cx="1408176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Patient visits hospital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58568" y="932688"/>
            <a:ext cx="2606040" cy="1828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58568" y="932688"/>
            <a:ext cx="260604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Health facility submits claim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3228" y="932688"/>
            <a:ext cx="3204972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3228" y="932688"/>
            <a:ext cx="3204972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Claim adjudication by HIB / SSF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300861"/>
            <a:ext cx="7786116" cy="317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300861"/>
            <a:ext cx="3593592" cy="31750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1772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1060704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1659636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2258568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2857500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Oval 17"/>
          <p:cNvSpPr/>
          <p:nvPr/>
        </p:nvSpPr>
        <p:spPr>
          <a:xfrm>
            <a:off x="3456432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9" name="Oval 18"/>
          <p:cNvSpPr/>
          <p:nvPr/>
        </p:nvSpPr>
        <p:spPr>
          <a:xfrm>
            <a:off x="4055364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0" name="Oval 19"/>
          <p:cNvSpPr/>
          <p:nvPr/>
        </p:nvSpPr>
        <p:spPr>
          <a:xfrm>
            <a:off x="4608576" y="1165860"/>
            <a:ext cx="301752" cy="301752"/>
          </a:xfrm>
          <a:prstGeom prst="ellipse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54296" y="1211580"/>
            <a:ext cx="210312" cy="2103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3864"/>
                </a:solidFill>
                <a:latin typeface="Calibri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5404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1F3864"/>
                </a:solidFill>
                <a:latin typeface="Calibri"/>
              </a:rPr>
              <a:t>Identity and
cross-claim rules</a:t>
            </a:r>
          </a:p>
        </p:txBody>
      </p:sp>
      <p:sp>
        <p:nvSpPr>
          <p:cNvPr id="23" name="Oval 22"/>
          <p:cNvSpPr/>
          <p:nvPr/>
        </p:nvSpPr>
        <p:spPr>
          <a:xfrm>
            <a:off x="5253228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24" name="Oval 23"/>
          <p:cNvSpPr/>
          <p:nvPr/>
        </p:nvSpPr>
        <p:spPr>
          <a:xfrm>
            <a:off x="5852160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25" name="Oval 24"/>
          <p:cNvSpPr/>
          <p:nvPr/>
        </p:nvSpPr>
        <p:spPr>
          <a:xfrm>
            <a:off x="6451092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C7D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0C7D72"/>
                </a:solidFill>
                <a:latin typeface="Calibri"/>
              </a:rPr>
              <a:t>11</a:t>
            </a:r>
          </a:p>
        </p:txBody>
      </p:sp>
      <p:sp>
        <p:nvSpPr>
          <p:cNvPr id="26" name="Oval 25"/>
          <p:cNvSpPr/>
          <p:nvPr/>
        </p:nvSpPr>
        <p:spPr>
          <a:xfrm>
            <a:off x="7050024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C7D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0C7D72"/>
                </a:solidFill>
                <a:latin typeface="Calibri"/>
              </a:rPr>
              <a:t>12</a:t>
            </a:r>
          </a:p>
        </p:txBody>
      </p:sp>
      <p:sp>
        <p:nvSpPr>
          <p:cNvPr id="27" name="Oval 26"/>
          <p:cNvSpPr/>
          <p:nvPr/>
        </p:nvSpPr>
        <p:spPr>
          <a:xfrm>
            <a:off x="7648956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28" name="Oval 27"/>
          <p:cNvSpPr/>
          <p:nvPr/>
        </p:nvSpPr>
        <p:spPr>
          <a:xfrm>
            <a:off x="8247888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1207008"/>
            <a:ext cx="82296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700" b="0" i="1">
                <a:solidFill>
                  <a:srgbClr val="6B7280"/>
                </a:solidFill>
                <a:latin typeface="Calibri"/>
              </a:rPr>
              <a:t>Our layer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2688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1 · Journey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6696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Calibri"/>
              </a:rPr>
              <a:t>2 · Knowledge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60704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3 · Rules &amp; review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24712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4 · Proposal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1444752"/>
            <a:ext cx="2468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0" i="0">
                <a:solidFill>
                  <a:srgbClr val="0C7D72"/>
                </a:solidFill>
                <a:latin typeface="Calibri"/>
              </a:rPr>
              <a:t>★ dashed = the hops this study adds (8 · 11 · 12)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1700784"/>
            <a:ext cx="1136873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457200" y="1828800"/>
          <a:ext cx="1133855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19"/>
                <a:gridCol w="5486400"/>
                <a:gridCol w="3291840"/>
              </a:tblGrid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What we took from it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Where it is used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864"/>
                          </a:solidFill>
                          <a:latin typeface="Calibri"/>
                        </a:rPr>
                        <a:t>HIB domain expert (interview, 2025)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Existing rule engine vs our addition · random sampling · SSF schemes · the claim vault · standard treatment protocol · reviewers use their own logic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Rules R2 (vault), STG; reviewer hops 11–12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864"/>
                          </a:solidFill>
                          <a:latin typeface="Calibri"/>
                        </a:rPr>
                        <a:t>Claim adjudication report with references (2025)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HIB's rejection causes (~20 %), benefit package, co-payment, FHIR uptake (~70 %), SSF (85 % of claims via openIMIS), Korea HIRA / Taiwan NHI, PM-JAY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Journey facts; Part 4 comparison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864"/>
                          </a:solidFill>
                          <a:latin typeface="Calibri"/>
                        </a:rPr>
                        <a:t>openIMIS code, 25 repositories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validate_claim and the disabled reasons 6 and 8; statuses 2/4/8/16/1; review status; json_ext; Nepali claim codes; claim_sampling; claim_ai_quality hook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Engine 1 (ported edits); integration blueprint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864"/>
                          </a:solidFill>
                          <a:latin typeface="Calibri"/>
                        </a:rPr>
                        <a:t>openIMIS website and wiki (scraped knowledge base)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Nepal deployment, SSF pages, AI claims module, FHIR implementation guide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Ontology alignment; sources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864"/>
                          </a:solidFill>
                          <a:latin typeface="Calibri"/>
                        </a:rPr>
                        <a:t>Standards bodies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WHO ICD-10/11, ICHI; HL7 FHIR R4; NMC registration; ISO 3166-2:NP; DHIS2 HMIS; NLEM 2021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Ontology bindings; Ontology page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864"/>
                          </a:solidFill>
                          <a:latin typeface="Calibri"/>
                        </a:rPr>
                        <a:t>World Bank / NHCAA fraud typology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16 fraud types, 9 red flags, 11 detection methods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Every rule declares the fraud type it detects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864"/>
                          </a:solidFill>
                          <a:latin typeface="Calibri"/>
                        </a:rPr>
                        <a:t>openIMIS PR #214 synthetic-data generator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Bulk generator structure; gaps: no fraud label, no duplicates, one policy per family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Our Nepal generator extends it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openIMIS Nepal — Week 5 · the claim journey, the knowledge base and the proposal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6236208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 i="1">
                <a:solidFill>
                  <a:srgbClr val="6B7280"/>
                </a:solidFill>
                <a:latin typeface="Calibri"/>
              </a:rPr>
              <a:t>Sources: as listed; Week 1 presentations (HIB Aug 2020; HIB / SSF / GIZ Apr 2024; MoHP / SIL Nov 2024) underpin the journey facts; knowledge base in Week 3-4/knowledge_base, ontology/, repos/REPOS.md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PART 2 · ONTOLOGY · OWL 2 / TURTLE · PREFIX HIC: · 44 CLASSES · 62 PROPERTIES · 697 TRIPLES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113385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1F3864"/>
                </a:solidFill>
                <a:latin typeface="Calibri"/>
              </a:rPr>
              <a:t>The HIC ontology — a person, not a member number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" y="932688"/>
            <a:ext cx="1408176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" y="932688"/>
            <a:ext cx="1408176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Patient visits hospital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58568" y="932688"/>
            <a:ext cx="2606040" cy="1828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58568" y="932688"/>
            <a:ext cx="260604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Health facility submits claim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3228" y="932688"/>
            <a:ext cx="3204972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3228" y="932688"/>
            <a:ext cx="3204972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Claim adjudication by HIB / SSF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300861"/>
            <a:ext cx="7786116" cy="317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300861"/>
            <a:ext cx="3593592" cy="31750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1772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1060704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1659636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2258568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2857500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Oval 17"/>
          <p:cNvSpPr/>
          <p:nvPr/>
        </p:nvSpPr>
        <p:spPr>
          <a:xfrm>
            <a:off x="3456432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9" name="Oval 18"/>
          <p:cNvSpPr/>
          <p:nvPr/>
        </p:nvSpPr>
        <p:spPr>
          <a:xfrm>
            <a:off x="4055364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0" name="Oval 19"/>
          <p:cNvSpPr/>
          <p:nvPr/>
        </p:nvSpPr>
        <p:spPr>
          <a:xfrm>
            <a:off x="4608576" y="1165860"/>
            <a:ext cx="301752" cy="301752"/>
          </a:xfrm>
          <a:prstGeom prst="ellipse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54296" y="1211580"/>
            <a:ext cx="210312" cy="2103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3864"/>
                </a:solidFill>
                <a:latin typeface="Calibri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5404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1F3864"/>
                </a:solidFill>
                <a:latin typeface="Calibri"/>
              </a:rPr>
              <a:t>Identity and
cross-claim rules</a:t>
            </a:r>
          </a:p>
        </p:txBody>
      </p:sp>
      <p:sp>
        <p:nvSpPr>
          <p:cNvPr id="23" name="Oval 22"/>
          <p:cNvSpPr/>
          <p:nvPr/>
        </p:nvSpPr>
        <p:spPr>
          <a:xfrm>
            <a:off x="5253228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24" name="Oval 23"/>
          <p:cNvSpPr/>
          <p:nvPr/>
        </p:nvSpPr>
        <p:spPr>
          <a:xfrm>
            <a:off x="5852160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25" name="Oval 24"/>
          <p:cNvSpPr/>
          <p:nvPr/>
        </p:nvSpPr>
        <p:spPr>
          <a:xfrm>
            <a:off x="6451092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C7D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0C7D72"/>
                </a:solidFill>
                <a:latin typeface="Calibri"/>
              </a:rPr>
              <a:t>11</a:t>
            </a:r>
          </a:p>
        </p:txBody>
      </p:sp>
      <p:sp>
        <p:nvSpPr>
          <p:cNvPr id="26" name="Oval 25"/>
          <p:cNvSpPr/>
          <p:nvPr/>
        </p:nvSpPr>
        <p:spPr>
          <a:xfrm>
            <a:off x="7050024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C7D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0C7D72"/>
                </a:solidFill>
                <a:latin typeface="Calibri"/>
              </a:rPr>
              <a:t>12</a:t>
            </a:r>
          </a:p>
        </p:txBody>
      </p:sp>
      <p:sp>
        <p:nvSpPr>
          <p:cNvPr id="27" name="Oval 26"/>
          <p:cNvSpPr/>
          <p:nvPr/>
        </p:nvSpPr>
        <p:spPr>
          <a:xfrm>
            <a:off x="7648956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28" name="Oval 27"/>
          <p:cNvSpPr/>
          <p:nvPr/>
        </p:nvSpPr>
        <p:spPr>
          <a:xfrm>
            <a:off x="8247888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1207008"/>
            <a:ext cx="82296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700" b="0" i="1">
                <a:solidFill>
                  <a:srgbClr val="6B7280"/>
                </a:solidFill>
                <a:latin typeface="Calibri"/>
              </a:rPr>
              <a:t>Our layer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2688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1 · Journey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6696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Calibri"/>
              </a:rPr>
              <a:t>2 · Knowledge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60704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3 · Rules &amp; review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24712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4 · Proposal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1444752"/>
            <a:ext cx="2468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0" i="0">
                <a:solidFill>
                  <a:srgbClr val="0C7D72"/>
                </a:solidFill>
                <a:latin typeface="Calibri"/>
              </a:rPr>
              <a:t>★ dashed = the hops this study adds (8 · 11 · 12)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1700784"/>
            <a:ext cx="1136873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ontology_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42262"/>
            <a:ext cx="7223760" cy="3879899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411480" y="2042262"/>
            <a:ext cx="7223760" cy="3879899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818120" y="1810512"/>
            <a:ext cx="3977639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79" y="1920240"/>
            <a:ext cx="3749039" cy="41148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>
              <a:spcAft>
                <a:spcPts val="700"/>
              </a:spcAft>
            </a:pPr>
            <a:r>
              <a:rPr sz="1000" b="1" i="0">
                <a:solidFill>
                  <a:srgbClr val="1F3864"/>
                </a:solidFill>
                <a:latin typeface="Calibri"/>
              </a:rPr>
              <a:t>• One Beneficiary, several Memberships.</a:t>
            </a:r>
            <a:r>
              <a:rPr sz="1000" b="0" i="0">
                <a:solidFill>
                  <a:srgbClr val="1F2A37"/>
                </a:solidFill>
                <a:latin typeface="Calibri"/>
              </a:rPr>
              <a:t> openIMIS has no concept of the same person across HIB and SSF. The ontology adds Beneficiary → Membership → Scheme and an IdentityKey: National ID first, else name + date of birth + sex.</a:t>
            </a:r>
          </a:p>
          <a:p>
            <a:pPr>
              <a:spcAft>
                <a:spcPts val="700"/>
              </a:spcAft>
            </a:pPr>
            <a:r>
              <a:rPr sz="1000" b="1" i="0">
                <a:solidFill>
                  <a:srgbClr val="1F3864"/>
                </a:solidFill>
                <a:latin typeface="Calibri"/>
              </a:rPr>
              <a:t>• Rules are objects.</a:t>
            </a:r>
            <a:r>
              <a:rPr sz="1000" b="0" i="0">
                <a:solidFill>
                  <a:srgbClr val="1F2A37"/>
                </a:solidFill>
                <a:latin typeface="Calibri"/>
              </a:rPr>
              <a:t> Each DetectionRule carries a condition, a plain-language because, a weight, the FraudType it detects, the RedFlag it uses and its provenance. That is what makes every flag explainable.</a:t>
            </a:r>
          </a:p>
          <a:p>
            <a:pPr>
              <a:spcAft>
                <a:spcPts val="700"/>
              </a:spcAft>
            </a:pPr>
            <a:r>
              <a:rPr sz="1000" b="1" i="0">
                <a:solidFill>
                  <a:srgbClr val="1F3864"/>
                </a:solidFill>
                <a:latin typeface="Calibri"/>
              </a:rPr>
              <a:t>• Everything else is reused.</a:t>
            </a:r>
            <a:r>
              <a:rPr sz="1000" b="0" i="0">
                <a:solidFill>
                  <a:srgbClr val="1F2A37"/>
                </a:solidFill>
                <a:latin typeface="Calibri"/>
              </a:rPr>
              <a:t> Claim ≡ fhir:Claim; ICD-10 codes; openIMIS statuses and rejection reasons as individuals; World Bank / NHCAA typology.</a:t>
            </a:r>
          </a:p>
          <a:p>
            <a:pPr>
              <a:spcAft>
                <a:spcPts val="700"/>
              </a:spcAft>
            </a:pPr>
            <a:r>
              <a:rPr sz="1000" b="1" i="0">
                <a:solidFill>
                  <a:srgbClr val="1F3864"/>
                </a:solidFill>
                <a:latin typeface="Calibri"/>
              </a:rPr>
              <a:t>• Naming standards.</a:t>
            </a:r>
            <a:r>
              <a:rPr sz="1000" b="0" i="0">
                <a:solidFill>
                  <a:srgbClr val="1F2A37"/>
                </a:solidFill>
                <a:latin typeface="Calibri"/>
              </a:rPr>
              <a:t> UpperCamelCase classes, lowerCamelCase properties, stable rule IDs R1–R5 and STG, every term labelled and defined, SKOS matches to external vocabularies.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openIMIS Nepal — Week 5 · the claim journey, the knowledge base and the proposal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6236208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 i="1">
                <a:solidFill>
                  <a:srgbClr val="6B7280"/>
                </a:solidFill>
                <a:latin typeface="Calibri"/>
              </a:rPr>
              <a:t>Sources: Week 2 ontology sketch (11 concepts) extended; openIMIS data model and FHIR R4 Claim mapping (openIMIS wiki); World Bank (2018) / NHCAA typology; files in Week 3-4/ontology, validated with rdflib and competency questions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PART 2 · KNOWLEDGE BASE · WHICH CODES A NEPALI CLAIM ACTUALLY 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113385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1F3864"/>
                </a:solidFill>
                <a:latin typeface="Calibri"/>
              </a:rPr>
              <a:t>Coding standards — international, HIB &amp; SSF, and Nepali hospitals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" y="932688"/>
            <a:ext cx="1408176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" y="932688"/>
            <a:ext cx="1408176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Patient visits hospital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58568" y="932688"/>
            <a:ext cx="2606040" cy="1828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58568" y="932688"/>
            <a:ext cx="260604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Health facility submits claim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3228" y="932688"/>
            <a:ext cx="3204972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3228" y="932688"/>
            <a:ext cx="3204972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Claim adjudication by HIB / SSF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300861"/>
            <a:ext cx="7786116" cy="317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300861"/>
            <a:ext cx="1796796" cy="31750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1772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1060704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1659636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2258568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2811780" y="1165860"/>
            <a:ext cx="301752" cy="301752"/>
          </a:xfrm>
          <a:prstGeom prst="ellipse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857500" y="1211580"/>
            <a:ext cx="210312" cy="2103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3864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78608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1F3864"/>
                </a:solidFill>
                <a:latin typeface="Calibri"/>
              </a:rPr>
              <a:t>Entered in
openIMIS</a:t>
            </a:r>
          </a:p>
        </p:txBody>
      </p:sp>
      <p:sp>
        <p:nvSpPr>
          <p:cNvPr id="20" name="Oval 19"/>
          <p:cNvSpPr/>
          <p:nvPr/>
        </p:nvSpPr>
        <p:spPr>
          <a:xfrm>
            <a:off x="3456432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sp>
        <p:nvSpPr>
          <p:cNvPr id="21" name="Oval 20"/>
          <p:cNvSpPr/>
          <p:nvPr/>
        </p:nvSpPr>
        <p:spPr>
          <a:xfrm>
            <a:off x="4055364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sp>
        <p:nvSpPr>
          <p:cNvPr id="22" name="Oval 21"/>
          <p:cNvSpPr/>
          <p:nvPr/>
        </p:nvSpPr>
        <p:spPr>
          <a:xfrm>
            <a:off x="4608576" y="1165860"/>
            <a:ext cx="301752" cy="301752"/>
          </a:xfrm>
          <a:prstGeom prst="ellipse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654296" y="1211580"/>
            <a:ext cx="210312" cy="2103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3864"/>
                </a:solidFill>
                <a:latin typeface="Calibri"/>
              </a:rP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5404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1F3864"/>
                </a:solidFill>
                <a:latin typeface="Calibri"/>
              </a:rPr>
              <a:t>Identity and
cross-claim rules</a:t>
            </a:r>
          </a:p>
        </p:txBody>
      </p:sp>
      <p:sp>
        <p:nvSpPr>
          <p:cNvPr id="25" name="Oval 24"/>
          <p:cNvSpPr/>
          <p:nvPr/>
        </p:nvSpPr>
        <p:spPr>
          <a:xfrm>
            <a:off x="5253228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26" name="Oval 25"/>
          <p:cNvSpPr/>
          <p:nvPr/>
        </p:nvSpPr>
        <p:spPr>
          <a:xfrm>
            <a:off x="5852160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27" name="Oval 26"/>
          <p:cNvSpPr/>
          <p:nvPr/>
        </p:nvSpPr>
        <p:spPr>
          <a:xfrm>
            <a:off x="6451092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C7D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0C7D72"/>
                </a:solidFill>
                <a:latin typeface="Calibri"/>
              </a:rPr>
              <a:t>11</a:t>
            </a:r>
          </a:p>
        </p:txBody>
      </p:sp>
      <p:sp>
        <p:nvSpPr>
          <p:cNvPr id="28" name="Oval 27"/>
          <p:cNvSpPr/>
          <p:nvPr/>
        </p:nvSpPr>
        <p:spPr>
          <a:xfrm>
            <a:off x="7050024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C7D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0C7D72"/>
                </a:solidFill>
                <a:latin typeface="Calibri"/>
              </a:rPr>
              <a:t>12</a:t>
            </a:r>
          </a:p>
        </p:txBody>
      </p:sp>
      <p:sp>
        <p:nvSpPr>
          <p:cNvPr id="29" name="Oval 28"/>
          <p:cNvSpPr/>
          <p:nvPr/>
        </p:nvSpPr>
        <p:spPr>
          <a:xfrm>
            <a:off x="7648956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30" name="Oval 29"/>
          <p:cNvSpPr/>
          <p:nvPr/>
        </p:nvSpPr>
        <p:spPr>
          <a:xfrm>
            <a:off x="8247888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1207008"/>
            <a:ext cx="82296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700" b="0" i="1">
                <a:solidFill>
                  <a:srgbClr val="6B7280"/>
                </a:solidFill>
                <a:latin typeface="Calibri"/>
              </a:rPr>
              <a:t>Hospital · Our layer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1 · Journey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6696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Calibri"/>
              </a:rPr>
              <a:t>2 · Knowledge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60704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3 · Rules &amp; review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24712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4 · Proposal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1444752"/>
            <a:ext cx="2468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0" i="0">
                <a:solidFill>
                  <a:srgbClr val="0C7D72"/>
                </a:solidFill>
                <a:latin typeface="Calibri"/>
              </a:rPr>
              <a:t>★ dashed = the hops this study adds (8 · 11 · 12)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1700784"/>
            <a:ext cx="1136873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457200" y="1828800"/>
          <a:ext cx="11338559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103119"/>
                <a:gridCol w="3108960"/>
                <a:gridCol w="2743200"/>
                <a:gridCol w="1828800"/>
              </a:tblGrid>
              <a:tr h="42062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On the claim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International standard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HIB and SSF today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Nepali hospitals today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In our ontology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864"/>
                          </a:solidFill>
                          <a:latin typeface="Calibri"/>
                        </a:rPr>
                        <a:t>The diagnosis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ICD-10 (WHO); ICD-11 successor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ICD-10, up to five codes; never validated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ICD-10 for HMIS and claims; ICD-11 training since Dec 2021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Diagnosis · icdCode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864"/>
                          </a:solidFill>
                          <a:latin typeface="Calibri"/>
                        </a:rPr>
                        <a:t>The treatment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ICHI (WHO) · SNOMED CT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Not used: local price-list codes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Hospital tariff codes mapped to the price list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Service · itemCode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864"/>
                          </a:solidFill>
                          <a:latin typeface="Calibri"/>
                        </a:rPr>
                        <a:t>Medicines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ATC / DDD (WHO)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Price-list items; NLEM 2021 as reference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Brand or generic names; NLEM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MedicalItem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864"/>
                          </a:solidFill>
                          <a:latin typeface="Calibri"/>
                        </a:rPr>
                        <a:t>Laboratory tests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LOINC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Not used: local codes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Local test names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Service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864"/>
                          </a:solidFill>
                          <a:latin typeface="Calibri"/>
                        </a:rPr>
                        <a:t>The patient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National ID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CHFID or SSF number, each scheme its own; National ID for some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Registration number; the scheme card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Beneficiary · IdentityKey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864"/>
                          </a:solidFill>
                          <a:latin typeface="Calibri"/>
                        </a:rPr>
                        <a:t>The doctor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NMC registration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NMC number required on the prescription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NMC number on prescriptions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Practitioner · nmcNumber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864"/>
                          </a:solidFill>
                          <a:latin typeface="Calibri"/>
                        </a:rPr>
                        <a:t>The claim itself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HL7 FHIR R4 Claim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EMR → openIMIS over FHIR (~70 % of hospitals); SSF ↔ openIMIS over FHIR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FHIR from the EMR, or keyed in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Claim ≡ fhir:Claim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864"/>
                          </a:solidFill>
                          <a:latin typeface="Calibri"/>
                        </a:rPr>
                        <a:t>What happens to it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openIMIS statuses, reasons 1–21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Entered → Checked → Processed → Valuated / Rejected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Notified, resubmits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ClaimStatus · RejectionReason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457200" y="5669280"/>
            <a:ext cx="1133856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F3864"/>
                </a:solidFill>
                <a:latin typeface="Calibri"/>
              </a:rPr>
              <a:t>Pattern: </a:t>
            </a:r>
            <a:r>
              <a:rPr sz="1100" b="0" i="0">
                <a:solidFill>
                  <a:srgbClr val="1F2A37"/>
                </a:solidFill>
                <a:latin typeface="Calibri"/>
              </a:rPr>
              <a:t>diagnosis, doctor and exchange format are standardised; treatment, tests and medicines are not; and the patient has no identifier both schemes share. The ontology keeps the local codes and records where an international binding would go.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openIMIS Nepal — Week 5 · the claim journey, the knowledge base and the proposal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6236208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 i="1">
                <a:solidFill>
                  <a:srgbClr val="6B7280"/>
                </a:solidFill>
                <a:latin typeface="Calibri"/>
              </a:rPr>
              <a:t>Sources: MoHP / SIL Nepal (Nov 2024) — FHIR R4, ICD-10 / ICD-11 roadmap; openIMIS Nepal and SSF pages; WHO Nepal (Dec 2021); MoHP digital health; DoHS HMIS; NLEM 2021; claim adjudication report (2025); app: Ontology page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PART 2 · KNOWLEDGE BASE · SYNTHETIC DATA, NO REAL INDIVIDUALS · SEED 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113385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1F3864"/>
                </a:solidFill>
                <a:latin typeface="Calibri"/>
              </a:rPr>
              <a:t>Synthetic Nepal claim book — parameters and numbers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" y="932688"/>
            <a:ext cx="1408176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" y="932688"/>
            <a:ext cx="1408176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Patient visits hospital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58568" y="932688"/>
            <a:ext cx="2606040" cy="1828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58568" y="932688"/>
            <a:ext cx="260604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Health facility submits claim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3228" y="932688"/>
            <a:ext cx="3204972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3228" y="932688"/>
            <a:ext cx="3204972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Claim adjudication by HIB / SSF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300861"/>
            <a:ext cx="7786116" cy="317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300861"/>
            <a:ext cx="1796796" cy="31750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1772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1060704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1659636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2258568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2811780" y="1165860"/>
            <a:ext cx="301752" cy="301752"/>
          </a:xfrm>
          <a:prstGeom prst="ellipse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857500" y="1211580"/>
            <a:ext cx="210312" cy="2103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3864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78608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1F3864"/>
                </a:solidFill>
                <a:latin typeface="Calibri"/>
              </a:rPr>
              <a:t>Entered in
openIMIS</a:t>
            </a:r>
          </a:p>
        </p:txBody>
      </p:sp>
      <p:sp>
        <p:nvSpPr>
          <p:cNvPr id="20" name="Oval 19"/>
          <p:cNvSpPr/>
          <p:nvPr/>
        </p:nvSpPr>
        <p:spPr>
          <a:xfrm>
            <a:off x="3456432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sp>
        <p:nvSpPr>
          <p:cNvPr id="21" name="Oval 20"/>
          <p:cNvSpPr/>
          <p:nvPr/>
        </p:nvSpPr>
        <p:spPr>
          <a:xfrm>
            <a:off x="4055364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sp>
        <p:nvSpPr>
          <p:cNvPr id="22" name="Oval 21"/>
          <p:cNvSpPr/>
          <p:nvPr/>
        </p:nvSpPr>
        <p:spPr>
          <a:xfrm>
            <a:off x="4654296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C7D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0C7D72"/>
                </a:solidFill>
                <a:latin typeface="Calibri"/>
              </a:rPr>
              <a:t>8</a:t>
            </a:r>
          </a:p>
        </p:txBody>
      </p:sp>
      <p:sp>
        <p:nvSpPr>
          <p:cNvPr id="23" name="Oval 22"/>
          <p:cNvSpPr/>
          <p:nvPr/>
        </p:nvSpPr>
        <p:spPr>
          <a:xfrm>
            <a:off x="5253228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24" name="Oval 23"/>
          <p:cNvSpPr/>
          <p:nvPr/>
        </p:nvSpPr>
        <p:spPr>
          <a:xfrm>
            <a:off x="5852160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25" name="Oval 24"/>
          <p:cNvSpPr/>
          <p:nvPr/>
        </p:nvSpPr>
        <p:spPr>
          <a:xfrm>
            <a:off x="6451092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C7D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0C7D72"/>
                </a:solidFill>
                <a:latin typeface="Calibri"/>
              </a:rPr>
              <a:t>11</a:t>
            </a:r>
          </a:p>
        </p:txBody>
      </p:sp>
      <p:sp>
        <p:nvSpPr>
          <p:cNvPr id="26" name="Oval 25"/>
          <p:cNvSpPr/>
          <p:nvPr/>
        </p:nvSpPr>
        <p:spPr>
          <a:xfrm>
            <a:off x="7050024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C7D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0C7D72"/>
                </a:solidFill>
                <a:latin typeface="Calibri"/>
              </a:rPr>
              <a:t>12</a:t>
            </a:r>
          </a:p>
        </p:txBody>
      </p:sp>
      <p:sp>
        <p:nvSpPr>
          <p:cNvPr id="27" name="Oval 26"/>
          <p:cNvSpPr/>
          <p:nvPr/>
        </p:nvSpPr>
        <p:spPr>
          <a:xfrm>
            <a:off x="7648956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28" name="Oval 27"/>
          <p:cNvSpPr/>
          <p:nvPr/>
        </p:nvSpPr>
        <p:spPr>
          <a:xfrm>
            <a:off x="8247888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1207008"/>
            <a:ext cx="82296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700" b="0" i="1">
                <a:solidFill>
                  <a:srgbClr val="6B7280"/>
                </a:solidFill>
                <a:latin typeface="Calibri"/>
              </a:rPr>
              <a:t>Hospital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2688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1 · Journey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6696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Calibri"/>
              </a:rPr>
              <a:t>2 · Knowledge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60704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3 · Rules &amp; review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24712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4 · Proposal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1444752"/>
            <a:ext cx="2468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0" i="0">
                <a:solidFill>
                  <a:srgbClr val="0C7D72"/>
                </a:solidFill>
                <a:latin typeface="Calibri"/>
              </a:rPr>
              <a:t>★ dashed = the hops this study adds (8 · 11 · 12)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1700784"/>
            <a:ext cx="1136873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457200" y="1828800"/>
          <a:ext cx="113385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5760720"/>
                <a:gridCol w="4023360"/>
              </a:tblGrid>
              <a:tr h="42062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864"/>
                          </a:solidFill>
                          <a:latin typeface="Calibri"/>
                        </a:rPr>
                        <a:t>People / claims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8,037 insurees · 9,786 claims · 14 % inpatient · NPR 37.8 M claimed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Realistic scale for a scale test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864"/>
                          </a:solidFill>
                          <a:latin typeface="Calibri"/>
                        </a:rPr>
                        <a:t>Place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7 provinces, 77 districts, weighted by the 2021 census; 440 facilities incl. 25 real HIB referral hospitals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District hospitals, PHCCs and health posts per district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864"/>
                          </a:solidFill>
                          <a:latin typeface="Calibri"/>
                        </a:rPr>
                        <a:t>Names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Romanised Nepali names with spelling variants (e.g. Sharma / Sarma)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Needed for the identity-resolution ceiling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864"/>
                          </a:solidFill>
                          <a:latin typeface="Calibri"/>
                        </a:rPr>
                        <a:t>Schemes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HIB family policies (with a lapsed share) · SSF for working-age adults · 654 dual-enrolled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Only dual-enrolled people can commit cross-scheme fraud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864"/>
                          </a:solidFill>
                          <a:latin typeface="Calibri"/>
                        </a:rPr>
                        <a:t>Identity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National ID for 60 % of adults (3,475 of 8,037 people); CHFID / SSF numbers always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National ID coverage is partial in reality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864"/>
                          </a:solidFill>
                          <a:latin typeface="Calibri"/>
                        </a:rPr>
                        <a:t>Providers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Every facility has a pool of doctors with NMC numbers on each claim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HIB stores the treating doctor's NMC number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864"/>
                          </a:solidFill>
                          <a:latin typeface="Calibri"/>
                        </a:rPr>
                        <a:t>Protocols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24 diagnoses with allowed services and a maximum length of stay; generic inpatient items always allowed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Elicited standard treatment protocol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864"/>
                          </a:solidFill>
                          <a:latin typeface="Calibri"/>
                        </a:rPr>
                        <a:t>Fraud injected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454 claims, 4.6 % (HIB estimate ≈ 5.5 %): within-scheme duplicates, split billing, cross-scheme (incl. 29 hard cases), impossible overlaps, resubmissions, upcodes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Ground truth for precision and recall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864"/>
                          </a:solidFill>
                          <a:latin typeface="Calibri"/>
                        </a:rPr>
                        <a:t>Honest look-alikes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Legitimate split visits, repeated dialysis, lapsed policies, off-list items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To measure false positives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openIMIS Nepal — Week 5 · the claim journey, the knowledge base and the proposal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6236208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 i="1">
                <a:solidFill>
                  <a:srgbClr val="6B7280"/>
                </a:solidFill>
                <a:latin typeface="Calibri"/>
              </a:rPr>
              <a:t>Sources: HIB presentation (Apr 2024) — 442 facilities, dual-scheme reality; Ranabhat / Ghimire (2022-23) — fraud about 5.5 %; openIMIS PR #214; generator Week 3-4/synthetic_data/nepal_synthetic_claims.py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00200"/>
            <a:ext cx="1280160" cy="76200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Part 3  ·  Milan Maharjan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743200"/>
            <a:ext cx="1060704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800" b="0" i="0">
                <a:solidFill>
                  <a:srgbClr val="C7D2E8"/>
                </a:solidFill>
                <a:latin typeface="Calibri"/>
              </a:rPr>
              <a:t>Reviewers, rules and failed cases — the rule catalog, the ranked queue, a worked example, where it fails, and the learning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4160520"/>
            <a:ext cx="11643055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1772" y="4242816"/>
            <a:ext cx="1408176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" y="4242816"/>
            <a:ext cx="1408176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Patient visits hospital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58568" y="4242816"/>
            <a:ext cx="2606040" cy="1828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58568" y="4242816"/>
            <a:ext cx="260604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Health facility submits claim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3228" y="4242816"/>
            <a:ext cx="3204972" cy="1828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3228" y="4242816"/>
            <a:ext cx="3204972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Claim adjudication by HIB / SSF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610989"/>
            <a:ext cx="7786116" cy="317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4610989"/>
            <a:ext cx="3593592" cy="31750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1772" y="4521708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Membership
verification</a:t>
            </a:r>
          </a:p>
        </p:txBody>
      </p:sp>
      <p:sp>
        <p:nvSpPr>
          <p:cNvPr id="17" name="Oval 16"/>
          <p:cNvSpPr/>
          <p:nvPr/>
        </p:nvSpPr>
        <p:spPr>
          <a:xfrm>
            <a:off x="1060704" y="4521708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Hospital card
and care</a:t>
            </a:r>
          </a:p>
        </p:txBody>
      </p:sp>
      <p:sp>
        <p:nvSpPr>
          <p:cNvPr id="19" name="Oval 18"/>
          <p:cNvSpPr/>
          <p:nvPr/>
        </p:nvSpPr>
        <p:spPr>
          <a:xfrm>
            <a:off x="1659636" y="4521708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0744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Nothing paid
at the counter</a:t>
            </a:r>
          </a:p>
        </p:txBody>
      </p:sp>
      <p:sp>
        <p:nvSpPr>
          <p:cNvPr id="21" name="Oval 20"/>
          <p:cNvSpPr/>
          <p:nvPr/>
        </p:nvSpPr>
        <p:spPr>
          <a:xfrm>
            <a:off x="2258568" y="4521708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9676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Claim
document</a:t>
            </a:r>
          </a:p>
        </p:txBody>
      </p:sp>
      <p:sp>
        <p:nvSpPr>
          <p:cNvPr id="23" name="Oval 22"/>
          <p:cNvSpPr/>
          <p:nvPr/>
        </p:nvSpPr>
        <p:spPr>
          <a:xfrm>
            <a:off x="2857500" y="4521708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78608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Entered in
openIMIS</a:t>
            </a:r>
          </a:p>
        </p:txBody>
      </p:sp>
      <p:sp>
        <p:nvSpPr>
          <p:cNvPr id="25" name="Oval 24"/>
          <p:cNvSpPr/>
          <p:nvPr/>
        </p:nvSpPr>
        <p:spPr>
          <a:xfrm>
            <a:off x="3456432" y="4521708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77540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Facility check
and submission</a:t>
            </a:r>
          </a:p>
        </p:txBody>
      </p:sp>
      <p:sp>
        <p:nvSpPr>
          <p:cNvPr id="27" name="Oval 26"/>
          <p:cNvSpPr/>
          <p:nvPr/>
        </p:nvSpPr>
        <p:spPr>
          <a:xfrm>
            <a:off x="4055364" y="4521708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76472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System
verification</a:t>
            </a:r>
          </a:p>
        </p:txBody>
      </p:sp>
      <p:sp>
        <p:nvSpPr>
          <p:cNvPr id="29" name="Oval 28"/>
          <p:cNvSpPr/>
          <p:nvPr/>
        </p:nvSpPr>
        <p:spPr>
          <a:xfrm>
            <a:off x="4608576" y="4475988"/>
            <a:ext cx="301752" cy="301752"/>
          </a:xfrm>
          <a:prstGeom prst="ellipse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54296" y="4521708"/>
            <a:ext cx="210312" cy="2103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3864"/>
                </a:solidFill>
                <a:latin typeface="Calibri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5404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1" i="0">
                <a:solidFill>
                  <a:srgbClr val="1F3864"/>
                </a:solidFill>
                <a:latin typeface="Calibri"/>
              </a:rPr>
              <a:t>Identity and
cross-claim rules</a:t>
            </a:r>
          </a:p>
        </p:txBody>
      </p:sp>
      <p:sp>
        <p:nvSpPr>
          <p:cNvPr id="32" name="Oval 31"/>
          <p:cNvSpPr/>
          <p:nvPr/>
        </p:nvSpPr>
        <p:spPr>
          <a:xfrm>
            <a:off x="5253228" y="4521708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74336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Completeness
check</a:t>
            </a:r>
          </a:p>
        </p:txBody>
      </p:sp>
      <p:sp>
        <p:nvSpPr>
          <p:cNvPr id="34" name="Oval 33"/>
          <p:cNvSpPr/>
          <p:nvPr/>
        </p:nvSpPr>
        <p:spPr>
          <a:xfrm>
            <a:off x="5852160" y="4521708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3268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Benefit
package check</a:t>
            </a:r>
          </a:p>
        </p:txBody>
      </p:sp>
      <p:sp>
        <p:nvSpPr>
          <p:cNvPr id="36" name="Oval 35"/>
          <p:cNvSpPr/>
          <p:nvPr/>
        </p:nvSpPr>
        <p:spPr>
          <a:xfrm>
            <a:off x="6405372" y="4475988"/>
            <a:ext cx="301752" cy="301752"/>
          </a:xfrm>
          <a:prstGeom prst="ellipse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51092" y="4521708"/>
            <a:ext cx="210312" cy="2103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3864"/>
                </a:solidFill>
                <a:latin typeface="Calibri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1" i="0">
                <a:solidFill>
                  <a:srgbClr val="1F3864"/>
                </a:solidFill>
                <a:latin typeface="Calibri"/>
              </a:rPr>
              <a:t>Ranked
review queue</a:t>
            </a:r>
          </a:p>
        </p:txBody>
      </p:sp>
      <p:sp>
        <p:nvSpPr>
          <p:cNvPr id="39" name="Oval 38"/>
          <p:cNvSpPr/>
          <p:nvPr/>
        </p:nvSpPr>
        <p:spPr>
          <a:xfrm>
            <a:off x="7004304" y="4475988"/>
            <a:ext cx="301752" cy="301752"/>
          </a:xfrm>
          <a:prstGeom prst="ellipse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050024" y="4521708"/>
            <a:ext cx="210312" cy="2103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3864"/>
                </a:solidFill>
                <a:latin typeface="Calibri"/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71132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1" i="0">
                <a:solidFill>
                  <a:srgbClr val="1F3864"/>
                </a:solidFill>
                <a:latin typeface="Calibri"/>
              </a:rPr>
              <a:t>Reviewer
decision</a:t>
            </a:r>
          </a:p>
        </p:txBody>
      </p:sp>
      <p:sp>
        <p:nvSpPr>
          <p:cNvPr id="42" name="Oval 41"/>
          <p:cNvSpPr/>
          <p:nvPr/>
        </p:nvSpPr>
        <p:spPr>
          <a:xfrm>
            <a:off x="7648956" y="4521708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70064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Settlement
recommended</a:t>
            </a:r>
          </a:p>
        </p:txBody>
      </p:sp>
      <p:sp>
        <p:nvSpPr>
          <p:cNvPr id="44" name="Oval 43"/>
          <p:cNvSpPr/>
          <p:nvPr/>
        </p:nvSpPr>
        <p:spPr>
          <a:xfrm>
            <a:off x="8247888" y="4521708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68996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Approval and
payment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32520" y="4517136"/>
            <a:ext cx="82296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700" b="0" i="1">
                <a:solidFill>
                  <a:srgbClr val="6B7280"/>
                </a:solidFill>
                <a:latin typeface="Calibri"/>
              </a:rPr>
              <a:t>Our layer · Medical Officers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326880" y="4279392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1 · Journey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66960" y="4279392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2 · Knowledge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607040" y="4279392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Calibri"/>
              </a:rPr>
              <a:t>3 · Rules &amp; review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247120" y="4279392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4 · Proposal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26880" y="4754880"/>
            <a:ext cx="2468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0" i="0">
                <a:solidFill>
                  <a:srgbClr val="0C7D72"/>
                </a:solidFill>
                <a:latin typeface="Calibri"/>
              </a:rPr>
              <a:t>★ dashed = the hops this study adds (8 · 11 · 12)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5010912"/>
            <a:ext cx="1136873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5760720"/>
            <a:ext cx="106070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9FB0CE"/>
                </a:solidFill>
                <a:latin typeface="Calibri"/>
              </a:rPr>
              <a:t>openIMIS Nepal — Week 5 · the claim journey, the knowledge base and the proposal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PART 3 · FROM THE WEEK 2 CATALOG TO EXECUTABLE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113385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1F3864"/>
                </a:solidFill>
                <a:latin typeface="Calibri"/>
              </a:rPr>
              <a:t>The rule catalog — six rules with an if, a because and a weight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" y="932688"/>
            <a:ext cx="1408176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" y="932688"/>
            <a:ext cx="1408176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Patient visits hospital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58568" y="932688"/>
            <a:ext cx="2606040" cy="1828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58568" y="932688"/>
            <a:ext cx="260604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Health facility submits claim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3228" y="932688"/>
            <a:ext cx="3204972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3228" y="932688"/>
            <a:ext cx="3204972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Claim adjudication by HIB / SSF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300861"/>
            <a:ext cx="7786116" cy="317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300861"/>
            <a:ext cx="3593592" cy="31750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1772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1060704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1659636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2258568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2857500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Oval 17"/>
          <p:cNvSpPr/>
          <p:nvPr/>
        </p:nvSpPr>
        <p:spPr>
          <a:xfrm>
            <a:off x="3456432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9" name="Oval 18"/>
          <p:cNvSpPr/>
          <p:nvPr/>
        </p:nvSpPr>
        <p:spPr>
          <a:xfrm>
            <a:off x="4055364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0" name="Oval 19"/>
          <p:cNvSpPr/>
          <p:nvPr/>
        </p:nvSpPr>
        <p:spPr>
          <a:xfrm>
            <a:off x="4608576" y="1165860"/>
            <a:ext cx="301752" cy="301752"/>
          </a:xfrm>
          <a:prstGeom prst="ellipse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54296" y="1211580"/>
            <a:ext cx="210312" cy="2103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3864"/>
                </a:solidFill>
                <a:latin typeface="Calibri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5404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1F3864"/>
                </a:solidFill>
                <a:latin typeface="Calibri"/>
              </a:rPr>
              <a:t>Identity and
cross-claim rules</a:t>
            </a:r>
          </a:p>
        </p:txBody>
      </p:sp>
      <p:sp>
        <p:nvSpPr>
          <p:cNvPr id="23" name="Oval 22"/>
          <p:cNvSpPr/>
          <p:nvPr/>
        </p:nvSpPr>
        <p:spPr>
          <a:xfrm>
            <a:off x="5253228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24" name="Oval 23"/>
          <p:cNvSpPr/>
          <p:nvPr/>
        </p:nvSpPr>
        <p:spPr>
          <a:xfrm>
            <a:off x="5852160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25" name="Oval 24"/>
          <p:cNvSpPr/>
          <p:nvPr/>
        </p:nvSpPr>
        <p:spPr>
          <a:xfrm>
            <a:off x="6451092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C7D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0C7D72"/>
                </a:solidFill>
                <a:latin typeface="Calibri"/>
              </a:rPr>
              <a:t>11</a:t>
            </a:r>
          </a:p>
        </p:txBody>
      </p:sp>
      <p:sp>
        <p:nvSpPr>
          <p:cNvPr id="26" name="Oval 25"/>
          <p:cNvSpPr/>
          <p:nvPr/>
        </p:nvSpPr>
        <p:spPr>
          <a:xfrm>
            <a:off x="7050024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C7D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0C7D72"/>
                </a:solidFill>
                <a:latin typeface="Calibri"/>
              </a:rPr>
              <a:t>12</a:t>
            </a:r>
          </a:p>
        </p:txBody>
      </p:sp>
      <p:sp>
        <p:nvSpPr>
          <p:cNvPr id="27" name="Oval 26"/>
          <p:cNvSpPr/>
          <p:nvPr/>
        </p:nvSpPr>
        <p:spPr>
          <a:xfrm>
            <a:off x="7648956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28" name="Oval 27"/>
          <p:cNvSpPr/>
          <p:nvPr/>
        </p:nvSpPr>
        <p:spPr>
          <a:xfrm>
            <a:off x="8247888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1207008"/>
            <a:ext cx="82296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700" b="0" i="1">
                <a:solidFill>
                  <a:srgbClr val="6B7280"/>
                </a:solidFill>
                <a:latin typeface="Calibri"/>
              </a:rPr>
              <a:t>Our layer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2688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1 · Journey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6696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2 · Knowledge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60704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Calibri"/>
              </a:rPr>
              <a:t>3 · Rules &amp; review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24712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4 · Proposal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1444752"/>
            <a:ext cx="2468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0" i="0">
                <a:solidFill>
                  <a:srgbClr val="0C7D72"/>
                </a:solidFill>
                <a:latin typeface="Calibri"/>
              </a:rPr>
              <a:t>★ dashed = the hops this study adds (8 · 11 · 12)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1700784"/>
            <a:ext cx="1136873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457200" y="1828800"/>
          <a:ext cx="1133855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19"/>
                <a:gridCol w="3931920"/>
                <a:gridCol w="2743200"/>
                <a:gridCol w="914400"/>
                <a:gridCol w="731520"/>
                <a:gridCol w="914400"/>
              </a:tblGrid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If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Because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Weight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Fired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864"/>
                          </a:solidFill>
                          <a:latin typeface="Calibri"/>
                        </a:rPr>
                        <a:t>R1 Within-scheme duplicate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same person · same scheme · same date · a shared service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one service cannot be billed twice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high +3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141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93 %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864"/>
                          </a:solidFill>
                          <a:latin typeface="Calibri"/>
                        </a:rPr>
                        <a:t>R2 Split billing (vault)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same person · same facility · same visit date · different lines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one episode possibly split into two claims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medium +2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79 %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864"/>
                          </a:solidFill>
                          <a:latin typeface="Calibri"/>
                        </a:rPr>
                        <a:t>R3 Cross-scheme duplicate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same identity key · different scheme · dates within ±2 days · same diagnosis or a shared service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HIB and SSF do not see each other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high +3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96 %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864"/>
                          </a:solidFill>
                          <a:latin typeface="Calibri"/>
                        </a:rPr>
                        <a:t>R4 Impossible overlap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two inpatient stays · different facilities · overlapping dates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nobody is admitted in two places at once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high +3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100 %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864"/>
                          </a:solidFill>
                          <a:latin typeface="Calibri"/>
                        </a:rPr>
                        <a:t>R5 Resubmission gaming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an earlier rejected claim · same diagnosis · within 7 days · codes changed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the claim is re-shaped to slip past the edit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medium +2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98 %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864"/>
                          </a:solidFill>
                          <a:latin typeface="Calibri"/>
                        </a:rPr>
                        <a:t>STG Off-protocol treatment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a service outside the protocol for the diagnosis, or a stay above its maximum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the diagnosis does not warrant the service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medium +2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100 %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457200" y="5166360"/>
            <a:ext cx="11338560" cy="9144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F3864"/>
                </a:solidFill>
                <a:latin typeface="Calibri"/>
              </a:rPr>
              <a:t>Scoring: </a:t>
            </a:r>
            <a:r>
              <a:rPr sz="1100" b="0" i="0">
                <a:solidFill>
                  <a:srgbClr val="1F2A37"/>
                </a:solidFill>
                <a:latin typeface="Calibri"/>
              </a:rPr>
              <a:t>identity key → claim history across facilities and schemes → rules → suspicion = sum of weights → ranked queue. </a:t>
            </a:r>
            <a:r>
              <a:rPr sz="1100" b="1" i="0">
                <a:solidFill>
                  <a:srgbClr val="1F2A37"/>
                </a:solidFill>
                <a:latin typeface="Calibri"/>
              </a:rPr>
              <a:t>A flag never rejects; </a:t>
            </a:r>
            <a:r>
              <a:rPr sz="1100" b="0" i="0">
                <a:solidFill>
                  <a:srgbClr val="1F2A37"/>
                </a:solidFill>
                <a:latin typeface="Calibri"/>
              </a:rPr>
              <a:t>it puts the claim in front of a Medical Officer with the reason. Parameters: R3 window ±2 days, R5 look-back 7 days, quantity cap 30, reviewer budget 5 %.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openIMIS Nepal — Week 5 · the claim journey, the knowledge base and the proposal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6236208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 i="1">
                <a:solidFill>
                  <a:srgbClr val="6B7280"/>
                </a:solidFill>
                <a:latin typeface="Calibri"/>
              </a:rPr>
              <a:t>Sources: Week 2 rule catalog (WEEK2_rule_catalog); World Bank (2018) / NHCAA fraud typology; HIB expert interview (2025) — vault, protocol; app: Rules page; counts on the 9,786-claim book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PART 3 · HOP 11 · MEDICAL OFFICERS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113385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1F3864"/>
                </a:solidFill>
                <a:latin typeface="Calibri"/>
              </a:rPr>
              <a:t>The reviewer's queue — ranked with reasons instead of a random sample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" y="932688"/>
            <a:ext cx="1408176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" y="932688"/>
            <a:ext cx="1408176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Patient visits hospital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58568" y="932688"/>
            <a:ext cx="2606040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58568" y="932688"/>
            <a:ext cx="260604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Health facility submits claim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3228" y="932688"/>
            <a:ext cx="3204972" cy="1828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3228" y="932688"/>
            <a:ext cx="3204972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Claim adjudication by HIB / SSF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300861"/>
            <a:ext cx="7786116" cy="317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300861"/>
            <a:ext cx="5390388" cy="31750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1772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1060704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1659636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2258568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2857500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Oval 17"/>
          <p:cNvSpPr/>
          <p:nvPr/>
        </p:nvSpPr>
        <p:spPr>
          <a:xfrm>
            <a:off x="3456432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9" name="Oval 18"/>
          <p:cNvSpPr/>
          <p:nvPr/>
        </p:nvSpPr>
        <p:spPr>
          <a:xfrm>
            <a:off x="4055364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0" name="Oval 19"/>
          <p:cNvSpPr/>
          <p:nvPr/>
        </p:nvSpPr>
        <p:spPr>
          <a:xfrm>
            <a:off x="4654296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1" name="Oval 20"/>
          <p:cNvSpPr/>
          <p:nvPr/>
        </p:nvSpPr>
        <p:spPr>
          <a:xfrm>
            <a:off x="5253228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2" name="Oval 21"/>
          <p:cNvSpPr/>
          <p:nvPr/>
        </p:nvSpPr>
        <p:spPr>
          <a:xfrm>
            <a:off x="5852160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3" name="Oval 22"/>
          <p:cNvSpPr/>
          <p:nvPr/>
        </p:nvSpPr>
        <p:spPr>
          <a:xfrm>
            <a:off x="6405372" y="1165860"/>
            <a:ext cx="301752" cy="301752"/>
          </a:xfrm>
          <a:prstGeom prst="ellipse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1092" y="1211580"/>
            <a:ext cx="210312" cy="2103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3864"/>
                </a:solidFill>
                <a:latin typeface="Calibri"/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1F3864"/>
                </a:solidFill>
                <a:latin typeface="Calibri"/>
              </a:rPr>
              <a:t>Ranked
review queue</a:t>
            </a:r>
          </a:p>
        </p:txBody>
      </p:sp>
      <p:sp>
        <p:nvSpPr>
          <p:cNvPr id="26" name="Oval 25"/>
          <p:cNvSpPr/>
          <p:nvPr/>
        </p:nvSpPr>
        <p:spPr>
          <a:xfrm>
            <a:off x="7050024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C7D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0C7D72"/>
                </a:solidFill>
                <a:latin typeface="Calibri"/>
              </a:rPr>
              <a:t>12</a:t>
            </a:r>
          </a:p>
        </p:txBody>
      </p:sp>
      <p:sp>
        <p:nvSpPr>
          <p:cNvPr id="27" name="Oval 26"/>
          <p:cNvSpPr/>
          <p:nvPr/>
        </p:nvSpPr>
        <p:spPr>
          <a:xfrm>
            <a:off x="7648956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28" name="Oval 27"/>
          <p:cNvSpPr/>
          <p:nvPr/>
        </p:nvSpPr>
        <p:spPr>
          <a:xfrm>
            <a:off x="8247888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1207008"/>
            <a:ext cx="82296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700" b="0" i="1">
                <a:solidFill>
                  <a:srgbClr val="6B7280"/>
                </a:solidFill>
                <a:latin typeface="Calibri"/>
              </a:rPr>
              <a:t>Medical Officers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2688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1 · Journey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6696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2 · Knowledge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60704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Calibri"/>
              </a:rPr>
              <a:t>3 · Rules &amp; review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24712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4 · Proposal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1444752"/>
            <a:ext cx="2468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0" i="0">
                <a:solidFill>
                  <a:srgbClr val="0C7D72"/>
                </a:solidFill>
                <a:latin typeface="Calibri"/>
              </a:rPr>
              <a:t>★ dashed = the hops this study adds (8 · 11 · 12)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1700784"/>
            <a:ext cx="1136873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j10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089" y="1810512"/>
            <a:ext cx="3982221" cy="4343400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1895089" y="1810512"/>
            <a:ext cx="3982221" cy="434340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589520" y="1828800"/>
            <a:ext cx="20116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89520" y="1901952"/>
            <a:ext cx="20116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2400" b="1" i="0">
                <a:solidFill>
                  <a:srgbClr val="0C7D72"/>
                </a:solidFill>
                <a:latin typeface="Calibri"/>
              </a:rPr>
              <a:t>418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2340864"/>
            <a:ext cx="20116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frauds in our ranked queue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784080" y="1828800"/>
            <a:ext cx="20116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84080" y="1901952"/>
            <a:ext cx="20116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2400" b="1" i="0">
                <a:solidFill>
                  <a:srgbClr val="B8791F"/>
                </a:solidFill>
                <a:latin typeface="Calibri"/>
              </a:rPr>
              <a:t>17–32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0" y="2340864"/>
            <a:ext cx="20116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frauds in a random 5 % sample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89520" y="2880360"/>
            <a:ext cx="420624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54112" y="2971800"/>
            <a:ext cx="3931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Same reviewer effort, about 489 claims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26679" y="3246120"/>
            <a:ext cx="3977639" cy="28346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000" b="1" i="0">
                <a:solidFill>
                  <a:srgbClr val="1F3864"/>
                </a:solidFill>
                <a:latin typeface="Calibri"/>
              </a:rPr>
              <a:t>• Every row carries its rules and a reason</a:t>
            </a:r>
            <a:r>
              <a:rPr sz="1000" b="0" i="0">
                <a:solidFill>
                  <a:srgbClr val="1F2A37"/>
                </a:solidFill>
                <a:latin typeface="Calibri"/>
              </a:rPr>
              <a:t> the reviewer opens the claim already knowing what to look at.</a:t>
            </a:r>
          </a:p>
          <a:p>
            <a:pPr>
              <a:spcAft>
                <a:spcPts val="600"/>
              </a:spcAft>
            </a:pPr>
            <a:r>
              <a:rPr sz="1000" b="1" i="0">
                <a:solidFill>
                  <a:srgbClr val="1F3864"/>
                </a:solidFill>
                <a:latin typeface="Calibri"/>
              </a:rPr>
              <a:t>• Suspicion orders the queue.</a:t>
            </a:r>
            <a:r>
              <a:rPr sz="1000" b="0" i="0">
                <a:solidFill>
                  <a:srgbClr val="1F2A37"/>
                </a:solidFill>
                <a:latin typeface="Calibri"/>
              </a:rPr>
              <a:t> R3 + R4 together score 6; a lone R2 scores 2 and sits at the bottom.</a:t>
            </a:r>
          </a:p>
          <a:p>
            <a:pPr>
              <a:spcAft>
                <a:spcPts val="600"/>
              </a:spcAft>
            </a:pPr>
            <a:r>
              <a:rPr sz="1000" b="1" i="0">
                <a:solidFill>
                  <a:srgbClr val="1F3864"/>
                </a:solidFill>
                <a:latin typeface="Calibri"/>
              </a:rPr>
              <a:t>• Random sampling stays as a control</a:t>
            </a:r>
            <a:r>
              <a:rPr sz="1000" b="0" i="0">
                <a:solidFill>
                  <a:srgbClr val="1F2A37"/>
                </a:solidFill>
                <a:latin typeface="Calibri"/>
              </a:rPr>
              <a:t> and for claims that carry no flag: today's 1-in-20 chance is kept as a toggle in the app.</a:t>
            </a:r>
          </a:p>
          <a:p>
            <a:pPr>
              <a:spcAft>
                <a:spcPts val="600"/>
              </a:spcAft>
            </a:pPr>
            <a:r>
              <a:rPr sz="1000" b="1" i="0">
                <a:solidFill>
                  <a:srgbClr val="1F3864"/>
                </a:solidFill>
                <a:latin typeface="Calibri"/>
              </a:rPr>
              <a:t>• Ground truth can be shown</a:t>
            </a:r>
            <a:r>
              <a:rPr sz="1000" b="0" i="0">
                <a:solidFill>
                  <a:srgbClr val="1F2A37"/>
                </a:solidFill>
                <a:latin typeface="Calibri"/>
              </a:rPr>
              <a:t> for the synthetic book, to check the queue live during a demo.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openIMIS Nepal — Week 5 · the claim journey, the knowledge base and the proposal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6236208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 i="1">
                <a:solidFill>
                  <a:srgbClr val="6B7280"/>
                </a:solidFill>
                <a:latin typeface="Calibri"/>
              </a:rPr>
              <a:t>Sources: HIB presentation (Apr 2024) — 26 reviewers for about 50,000 claims a day; HIB expert interview (2025) — random sampling; app: Journey step 11. Random draw varies with the seed: 17 in the evaluation run, 32 in the app's live draw.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PART 3 · HOP 8 AND HOP 12 · THE CROSS-SCHEME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113385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1F3864"/>
                </a:solidFill>
                <a:latin typeface="Calibri"/>
              </a:rPr>
              <a:t>Worked example — one appendectomy, two schemes, two hospitals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" y="932688"/>
            <a:ext cx="1408176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" y="932688"/>
            <a:ext cx="1408176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Patient visits hospital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58568" y="932688"/>
            <a:ext cx="2606040" cy="1828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58568" y="932688"/>
            <a:ext cx="260604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Health facility submits claim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3228" y="932688"/>
            <a:ext cx="3204972" cy="1828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3228" y="932688"/>
            <a:ext cx="3204972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Claim adjudication by HIB / SSF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300861"/>
            <a:ext cx="7786116" cy="317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300861"/>
            <a:ext cx="3593592" cy="31750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1772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1060704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1659636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2258568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2857500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Oval 17"/>
          <p:cNvSpPr/>
          <p:nvPr/>
        </p:nvSpPr>
        <p:spPr>
          <a:xfrm>
            <a:off x="3456432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9" name="Oval 18"/>
          <p:cNvSpPr/>
          <p:nvPr/>
        </p:nvSpPr>
        <p:spPr>
          <a:xfrm>
            <a:off x="4055364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0" name="Oval 19"/>
          <p:cNvSpPr/>
          <p:nvPr/>
        </p:nvSpPr>
        <p:spPr>
          <a:xfrm>
            <a:off x="4608576" y="1165860"/>
            <a:ext cx="301752" cy="301752"/>
          </a:xfrm>
          <a:prstGeom prst="ellipse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54296" y="1211580"/>
            <a:ext cx="210312" cy="2103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3864"/>
                </a:solidFill>
                <a:latin typeface="Calibri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5404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1F3864"/>
                </a:solidFill>
                <a:latin typeface="Calibri"/>
              </a:rPr>
              <a:t>Identity and
cross-claim rules</a:t>
            </a:r>
          </a:p>
        </p:txBody>
      </p:sp>
      <p:sp>
        <p:nvSpPr>
          <p:cNvPr id="23" name="Oval 22"/>
          <p:cNvSpPr/>
          <p:nvPr/>
        </p:nvSpPr>
        <p:spPr>
          <a:xfrm>
            <a:off x="5253228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24" name="Oval 23"/>
          <p:cNvSpPr/>
          <p:nvPr/>
        </p:nvSpPr>
        <p:spPr>
          <a:xfrm>
            <a:off x="5852160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25" name="Oval 24"/>
          <p:cNvSpPr/>
          <p:nvPr/>
        </p:nvSpPr>
        <p:spPr>
          <a:xfrm>
            <a:off x="6451092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C7D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0C7D72"/>
                </a:solidFill>
                <a:latin typeface="Calibri"/>
              </a:rPr>
              <a:t>11</a:t>
            </a:r>
          </a:p>
        </p:txBody>
      </p:sp>
      <p:sp>
        <p:nvSpPr>
          <p:cNvPr id="26" name="Oval 25"/>
          <p:cNvSpPr/>
          <p:nvPr/>
        </p:nvSpPr>
        <p:spPr>
          <a:xfrm>
            <a:off x="7004304" y="1165860"/>
            <a:ext cx="301752" cy="301752"/>
          </a:xfrm>
          <a:prstGeom prst="ellipse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050024" y="1211580"/>
            <a:ext cx="210312" cy="2103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3864"/>
                </a:solidFill>
                <a:latin typeface="Calibri"/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71132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1F3864"/>
                </a:solidFill>
                <a:latin typeface="Calibri"/>
              </a:rPr>
              <a:t>Reviewer
decision</a:t>
            </a:r>
          </a:p>
        </p:txBody>
      </p:sp>
      <p:sp>
        <p:nvSpPr>
          <p:cNvPr id="29" name="Oval 28"/>
          <p:cNvSpPr/>
          <p:nvPr/>
        </p:nvSpPr>
        <p:spPr>
          <a:xfrm>
            <a:off x="7648956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30" name="Oval 29"/>
          <p:cNvSpPr/>
          <p:nvPr/>
        </p:nvSpPr>
        <p:spPr>
          <a:xfrm>
            <a:off x="8247888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1207008"/>
            <a:ext cx="82296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700" b="0" i="1">
                <a:solidFill>
                  <a:srgbClr val="6B7280"/>
                </a:solidFill>
                <a:latin typeface="Calibri"/>
              </a:rPr>
              <a:t>Our layer · Medical Officers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1 · Journey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6696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2 · Knowledge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60704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Calibri"/>
              </a:rPr>
              <a:t>3 · Rules &amp; review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24712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4 · Proposal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1444752"/>
            <a:ext cx="2468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0" i="0">
                <a:solidFill>
                  <a:srgbClr val="0C7D72"/>
                </a:solidFill>
                <a:latin typeface="Calibri"/>
              </a:rPr>
              <a:t>★ dashed = the hops this study adds (8 · 11 · 12)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1700784"/>
            <a:ext cx="1136873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j7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40" y="1810512"/>
            <a:ext cx="4973800" cy="4343400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804940" y="1810512"/>
            <a:ext cx="4973800" cy="434340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355080" y="1810512"/>
            <a:ext cx="544068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9672" y="1901952"/>
            <a:ext cx="51663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What the layer says, in the reviewer's words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2194560"/>
            <a:ext cx="5212080" cy="39319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• Identity.</a:t>
            </a:r>
            <a:r>
              <a:rPr sz="1050" b="0" i="0">
                <a:solidFill>
                  <a:srgbClr val="1F2A37"/>
                </a:solidFill>
                <a:latin typeface="Calibri"/>
              </a:rPr>
              <a:t> Sita Sharma matched on National ID NID-1990000001: HIB member HIB900000011 and SSF contributor SSF400012345.</a:t>
            </a:r>
          </a:p>
          <a:p>
            <a:pPr>
              <a:spcAft>
                <a:spcPts val="60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• History.</a:t>
            </a:r>
            <a:r>
              <a:rPr sz="1050" b="0" i="0">
                <a:solidFill>
                  <a:srgbClr val="1F2A37"/>
                </a:solidFill>
                <a:latin typeface="Calibri"/>
              </a:rPr>
              <a:t> One earlier claim, HIB, Bir Hospital, K35 acute appendicitis, 5–8 July, NPR 26,300, status Checked.</a:t>
            </a:r>
          </a:p>
          <a:p>
            <a:pPr>
              <a:spcAft>
                <a:spcPts val="60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• R3 fires (+3):</a:t>
            </a:r>
            <a:r>
              <a:rPr sz="1050" b="0" i="0">
                <a:solidFill>
                  <a:srgbClr val="1F2A37"/>
                </a:solidFill>
                <a:latin typeface="Calibri"/>
              </a:rPr>
              <a:t> same person, same diagnosis within 2 days, different scheme. Neither system sees the other today.</a:t>
            </a:r>
          </a:p>
          <a:p>
            <a:pPr>
              <a:spcAft>
                <a:spcPts val="60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• R4 fires (+3):</a:t>
            </a:r>
            <a:r>
              <a:rPr sz="1050" b="0" i="0">
                <a:solidFill>
                  <a:srgbClr val="1F2A37"/>
                </a:solidFill>
                <a:latin typeface="Calibri"/>
              </a:rPr>
              <a:t> admission 6–9 July at TUTH overlaps the stay 5–8 July at Bir Hospital.</a:t>
            </a:r>
          </a:p>
          <a:p>
            <a:pPr>
              <a:spcAft>
                <a:spcPts val="60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• Suspicion 6 → review status Selected.</a:t>
            </a:r>
            <a:r>
              <a:rPr sz="1050" b="0" i="0">
                <a:solidFill>
                  <a:srgbClr val="1F2A37"/>
                </a:solidFill>
                <a:latin typeface="Calibri"/>
              </a:rPr>
              <a:t> The claim is not rejected: a Medical Officer decides.</a:t>
            </a:r>
          </a:p>
          <a:p>
            <a:pPr>
              <a:spcAft>
                <a:spcPts val="60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• Decision.</a:t>
            </a:r>
            <a:r>
              <a:rPr sz="1050" b="0" i="0">
                <a:solidFill>
                  <a:srgbClr val="1F2A37"/>
                </a:solidFill>
                <a:latin typeface="Calibri"/>
              </a:rPr>
              <a:t> Confirm records rejection reason 6 'Item/Service duplicated' and the linked claim as evidence; clear or release teach the rules the other way.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openIMIS Nepal — Week 5 · the claim journey, the knowledge base and the proposal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6236208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 i="1">
                <a:solidFill>
                  <a:srgbClr val="6B7280"/>
                </a:solidFill>
                <a:latin typeface="Calibri"/>
              </a:rPr>
              <a:t>Sources: the HIB ↔ SSF silo (HIB / GIZ, Apr 2024); Week 2 sample rule — same beneficiary + service + overlapping dates + different payer; app: Journey steps 8 and 12, scenario 'Cross-scheme duplicate (HIB → SSF)'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PART 3 · FAILED AND HARD CASES ON THE SYNTHETIC 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113385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1F3864"/>
                </a:solidFill>
                <a:latin typeface="Calibri"/>
              </a:rPr>
              <a:t>Where it fails — recall by fraud type and the hard cases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" y="932688"/>
            <a:ext cx="1408176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" y="932688"/>
            <a:ext cx="1408176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Patient visits hospital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58568" y="932688"/>
            <a:ext cx="2606040" cy="1828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58568" y="932688"/>
            <a:ext cx="260604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Health facility submits claim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3228" y="932688"/>
            <a:ext cx="3204972" cy="1828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3228" y="932688"/>
            <a:ext cx="3204972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Claim adjudication by HIB / SSF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300861"/>
            <a:ext cx="7786116" cy="317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300861"/>
            <a:ext cx="3593592" cy="31750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1772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1060704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1659636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2258568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2857500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Oval 17"/>
          <p:cNvSpPr/>
          <p:nvPr/>
        </p:nvSpPr>
        <p:spPr>
          <a:xfrm>
            <a:off x="3456432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9" name="Oval 18"/>
          <p:cNvSpPr/>
          <p:nvPr/>
        </p:nvSpPr>
        <p:spPr>
          <a:xfrm>
            <a:off x="4055364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0" name="Oval 19"/>
          <p:cNvSpPr/>
          <p:nvPr/>
        </p:nvSpPr>
        <p:spPr>
          <a:xfrm>
            <a:off x="4608576" y="1165860"/>
            <a:ext cx="301752" cy="301752"/>
          </a:xfrm>
          <a:prstGeom prst="ellipse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54296" y="1211580"/>
            <a:ext cx="210312" cy="2103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3864"/>
                </a:solidFill>
                <a:latin typeface="Calibri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5404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1F3864"/>
                </a:solidFill>
                <a:latin typeface="Calibri"/>
              </a:rPr>
              <a:t>Identity and
cross-claim rules</a:t>
            </a:r>
          </a:p>
        </p:txBody>
      </p:sp>
      <p:sp>
        <p:nvSpPr>
          <p:cNvPr id="23" name="Oval 22"/>
          <p:cNvSpPr/>
          <p:nvPr/>
        </p:nvSpPr>
        <p:spPr>
          <a:xfrm>
            <a:off x="5253228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24" name="Oval 23"/>
          <p:cNvSpPr/>
          <p:nvPr/>
        </p:nvSpPr>
        <p:spPr>
          <a:xfrm>
            <a:off x="5852160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25" name="Oval 24"/>
          <p:cNvSpPr/>
          <p:nvPr/>
        </p:nvSpPr>
        <p:spPr>
          <a:xfrm>
            <a:off x="6451092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C7D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0C7D72"/>
                </a:solidFill>
                <a:latin typeface="Calibri"/>
              </a:rPr>
              <a:t>11</a:t>
            </a:r>
          </a:p>
        </p:txBody>
      </p:sp>
      <p:sp>
        <p:nvSpPr>
          <p:cNvPr id="26" name="Oval 25"/>
          <p:cNvSpPr/>
          <p:nvPr/>
        </p:nvSpPr>
        <p:spPr>
          <a:xfrm>
            <a:off x="7050024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C7D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0C7D72"/>
                </a:solidFill>
                <a:latin typeface="Calibri"/>
              </a:rPr>
              <a:t>12</a:t>
            </a:r>
          </a:p>
        </p:txBody>
      </p:sp>
      <p:sp>
        <p:nvSpPr>
          <p:cNvPr id="27" name="Oval 26"/>
          <p:cNvSpPr/>
          <p:nvPr/>
        </p:nvSpPr>
        <p:spPr>
          <a:xfrm>
            <a:off x="7648956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28" name="Oval 27"/>
          <p:cNvSpPr/>
          <p:nvPr/>
        </p:nvSpPr>
        <p:spPr>
          <a:xfrm>
            <a:off x="8202168" y="1165860"/>
            <a:ext cx="301752" cy="301752"/>
          </a:xfrm>
          <a:prstGeom prst="ellipse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47888" y="1211580"/>
            <a:ext cx="210312" cy="2103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3864"/>
                </a:solidFill>
                <a:latin typeface="Calibri"/>
              </a:rPr>
              <a:t>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68996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1F3864"/>
                </a:solidFill>
                <a:latin typeface="Calibri"/>
              </a:rPr>
              <a:t>Approval and
payment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1207008"/>
            <a:ext cx="82296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700" b="0" i="1">
                <a:solidFill>
                  <a:srgbClr val="6B7280"/>
                </a:solidFill>
                <a:latin typeface="Calibri"/>
              </a:rPr>
              <a:t>Our layer · Exec. Director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1 · Journey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6696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2 · Knowledge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60704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Calibri"/>
              </a:rPr>
              <a:t>3 · Rules &amp; review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24712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4 · Proposal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1444752"/>
            <a:ext cx="2468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0" i="0">
                <a:solidFill>
                  <a:srgbClr val="0C7D72"/>
                </a:solidFill>
                <a:latin typeface="Calibri"/>
              </a:rPr>
              <a:t>★ dashed = the hops this study adds (8 · 11 · 12)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1700784"/>
            <a:ext cx="1136873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457200" y="1828800"/>
          <a:ext cx="6766557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0427"/>
                <a:gridCol w="629447"/>
                <a:gridCol w="629447"/>
                <a:gridCol w="629447"/>
                <a:gridCol w="2517789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Fraud type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Planted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Caught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What happens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864"/>
                          </a:solidFill>
                          <a:latin typeface="Calibri"/>
                        </a:rPr>
                        <a:t>Within-scheme duplicate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37"/>
                          </a:solidFill>
                          <a:latin typeface="Calibri"/>
                        </a:rPr>
                        <a:t>124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37"/>
                          </a:solidFill>
                          <a:latin typeface="Calibri"/>
                        </a:rPr>
                        <a:t>124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37"/>
                          </a:solidFill>
                          <a:latin typeface="Calibri"/>
                        </a:rPr>
                        <a:t>100 %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37"/>
                          </a:solidFill>
                          <a:latin typeface="Calibri"/>
                        </a:rPr>
                        <a:t>R1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864"/>
                          </a:solidFill>
                          <a:latin typeface="Calibri"/>
                        </a:rPr>
                        <a:t>Same-episode split billing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37"/>
                          </a:solidFill>
                          <a:latin typeface="Calibri"/>
                        </a:rPr>
                        <a:t>83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37"/>
                          </a:solidFill>
                          <a:latin typeface="Calibri"/>
                        </a:rPr>
                        <a:t>83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37"/>
                          </a:solidFill>
                          <a:latin typeface="Calibri"/>
                        </a:rPr>
                        <a:t>100 %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37"/>
                          </a:solidFill>
                          <a:latin typeface="Calibri"/>
                        </a:rPr>
                        <a:t>R2, but 23 honest splits are flagged too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864"/>
                          </a:solidFill>
                          <a:latin typeface="Calibri"/>
                        </a:rPr>
                        <a:t>Resubmission after rejection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37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37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37"/>
                          </a:solidFill>
                          <a:latin typeface="Calibri"/>
                        </a:rPr>
                        <a:t>100 %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37"/>
                          </a:solidFill>
                          <a:latin typeface="Calibri"/>
                        </a:rPr>
                        <a:t>R5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864"/>
                          </a:solidFill>
                          <a:latin typeface="Calibri"/>
                        </a:rPr>
                        <a:t>Impossible overlap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37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37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37"/>
                          </a:solidFill>
                          <a:latin typeface="Calibri"/>
                        </a:rPr>
                        <a:t>94 %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37"/>
                          </a:solidFill>
                          <a:latin typeface="Calibri"/>
                        </a:rPr>
                        <a:t>2 missed when the identity key differs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864"/>
                          </a:solidFill>
                          <a:latin typeface="Calibri"/>
                        </a:rPr>
                        <a:t>Cross-scheme duplicate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37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37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37"/>
                          </a:solidFill>
                          <a:latin typeface="Calibri"/>
                        </a:rPr>
                        <a:t>97 %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37"/>
                          </a:solidFill>
                          <a:latin typeface="Calibri"/>
                        </a:rPr>
                        <a:t>R3 on National ID or composite key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864"/>
                          </a:solidFill>
                          <a:latin typeface="Calibri"/>
                        </a:rPr>
                        <a:t>Off-protocol upcode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37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37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37"/>
                          </a:solidFill>
                          <a:latin typeface="Calibri"/>
                        </a:rPr>
                        <a:t>95 %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37"/>
                          </a:solidFill>
                          <a:latin typeface="Calibri"/>
                        </a:rPr>
                        <a:t>STG; 3 use only allowed codes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864"/>
                          </a:solidFill>
                          <a:latin typeface="Calibri"/>
                        </a:rPr>
                        <a:t>Cross-scheme, hard: no National ID + name spelt differently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37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37"/>
                          </a:solidFill>
                          <a:latin typeface="Calibri"/>
                        </a:rPr>
                        <a:t>0 %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37"/>
                          </a:solidFill>
                          <a:latin typeface="Calibri"/>
                        </a:rPr>
                        <a:t>Paid. The composite key cannot join Sarma and Sharma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39" name="Picture 38" descr="hard13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9580" y="1810512"/>
            <a:ext cx="3303239" cy="2834640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7949580" y="1810512"/>
            <a:ext cx="3303239" cy="283464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406640" y="4754880"/>
            <a:ext cx="4389120" cy="1371600"/>
          </a:xfrm>
          <a:prstGeom prst="roundRect">
            <a:avLst>
              <a:gd name="adj" fmla="val 6000"/>
            </a:avLst>
          </a:prstGeom>
          <a:solidFill>
            <a:srgbClr val="E6F6F3"/>
          </a:solidFill>
          <a:ln w="9525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43800" y="4828032"/>
            <a:ext cx="4114800" cy="12801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>
              <a:spcAft>
                <a:spcPts val="500"/>
              </a:spcAft>
            </a:pPr>
            <a:r>
              <a:rPr sz="950" b="1" i="0">
                <a:solidFill>
                  <a:srgbClr val="0C7D72"/>
                </a:solidFill>
                <a:latin typeface="Calibri"/>
              </a:rPr>
              <a:t>Three honest failures. </a:t>
            </a:r>
            <a:r>
              <a:rPr sz="950" b="0" i="0">
                <a:solidFill>
                  <a:srgbClr val="1F2A37"/>
                </a:solidFill>
                <a:latin typeface="Calibri"/>
              </a:rPr>
              <a:t>The hard cross-scheme case is the identity ceiling and the argument for National-ID linkage. R2's false positives are the price of catching split billing, and the reviewer clears them. STG over-fired at first (34 % precision) until the protocols learned that generic inpatient items are always allowed.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440680"/>
            <a:ext cx="6766560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>
              <a:spcAft>
                <a:spcPts val="50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The lapsed-policy scenario </a:t>
            </a:r>
            <a:r>
              <a:rPr sz="1050" b="0" i="0">
                <a:solidFill>
                  <a:srgbClr val="1F2A37"/>
                </a:solidFill>
                <a:latin typeface="Calibri"/>
              </a:rPr>
              <a:t>is caught by the existing engine at hop 7 (reason 21 no coverage) before our layer runs: the two engines are complementary, not competing. Overall on the book: </a:t>
            </a:r>
            <a:r>
              <a:rPr sz="1050" b="1" i="0">
                <a:solidFill>
                  <a:srgbClr val="1F2A37"/>
                </a:solidFill>
                <a:latin typeface="Calibri"/>
              </a:rPr>
              <a:t>91.9 % precision, 92.1 % recall, 37 false positives, 36 misses.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openIMIS Nepal — Week 5 · the claim journey, the knowledge base and the proposal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" y="6236208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 i="1">
                <a:solidFill>
                  <a:srgbClr val="6B7280"/>
                </a:solidFill>
                <a:latin typeface="Calibri"/>
              </a:rPr>
              <a:t>Sources: Week 3-4 report §9 (the C018 miss); synthetic_data/out/RESULTS.md; app: Journey, scenario 'the hard case we miss', and Dashboard, recall by fraud type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PART 3 · HOP 12 · CAPTURING TACIT KNOWLEDGE BY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113385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1F3864"/>
                </a:solidFill>
                <a:latin typeface="Calibri"/>
              </a:rPr>
              <a:t>The learning loop — reviewers teach the rules: confirm, clear, release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" y="932688"/>
            <a:ext cx="1408176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" y="932688"/>
            <a:ext cx="1408176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Patient visits hospital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58568" y="932688"/>
            <a:ext cx="2606040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58568" y="932688"/>
            <a:ext cx="260604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Health facility submits claim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3228" y="932688"/>
            <a:ext cx="3204972" cy="1828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3228" y="932688"/>
            <a:ext cx="3204972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Claim adjudication by HIB / SSF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300861"/>
            <a:ext cx="7786116" cy="317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300861"/>
            <a:ext cx="5989320" cy="31750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1772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1060704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1659636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2258568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2857500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Oval 17"/>
          <p:cNvSpPr/>
          <p:nvPr/>
        </p:nvSpPr>
        <p:spPr>
          <a:xfrm>
            <a:off x="3456432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9" name="Oval 18"/>
          <p:cNvSpPr/>
          <p:nvPr/>
        </p:nvSpPr>
        <p:spPr>
          <a:xfrm>
            <a:off x="4055364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0" name="Oval 19"/>
          <p:cNvSpPr/>
          <p:nvPr/>
        </p:nvSpPr>
        <p:spPr>
          <a:xfrm>
            <a:off x="4654296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1" name="Oval 20"/>
          <p:cNvSpPr/>
          <p:nvPr/>
        </p:nvSpPr>
        <p:spPr>
          <a:xfrm>
            <a:off x="5253228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2" name="Oval 21"/>
          <p:cNvSpPr/>
          <p:nvPr/>
        </p:nvSpPr>
        <p:spPr>
          <a:xfrm>
            <a:off x="5852160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3" name="Oval 22"/>
          <p:cNvSpPr/>
          <p:nvPr/>
        </p:nvSpPr>
        <p:spPr>
          <a:xfrm>
            <a:off x="6451092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24" name="Oval 23"/>
          <p:cNvSpPr/>
          <p:nvPr/>
        </p:nvSpPr>
        <p:spPr>
          <a:xfrm>
            <a:off x="7004304" y="1165860"/>
            <a:ext cx="301752" cy="301752"/>
          </a:xfrm>
          <a:prstGeom prst="ellipse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50024" y="1211580"/>
            <a:ext cx="210312" cy="2103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3864"/>
                </a:solidFill>
                <a:latin typeface="Calibri"/>
              </a:rPr>
              <a:t>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71132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1F3864"/>
                </a:solidFill>
                <a:latin typeface="Calibri"/>
              </a:rPr>
              <a:t>Reviewer
decision</a:t>
            </a:r>
          </a:p>
        </p:txBody>
      </p:sp>
      <p:sp>
        <p:nvSpPr>
          <p:cNvPr id="27" name="Oval 26"/>
          <p:cNvSpPr/>
          <p:nvPr/>
        </p:nvSpPr>
        <p:spPr>
          <a:xfrm>
            <a:off x="7648956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28" name="Oval 27"/>
          <p:cNvSpPr/>
          <p:nvPr/>
        </p:nvSpPr>
        <p:spPr>
          <a:xfrm>
            <a:off x="8247888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1207008"/>
            <a:ext cx="82296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700" b="0" i="1">
                <a:solidFill>
                  <a:srgbClr val="6B7280"/>
                </a:solidFill>
                <a:latin typeface="Calibri"/>
              </a:rPr>
              <a:t>Medical Officers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2688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1 · Journey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6696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2 · Knowledge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60704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Calibri"/>
              </a:rPr>
              <a:t>3 · Rules &amp; review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24712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4 · Proposal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1444752"/>
            <a:ext cx="2468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0" i="0">
                <a:solidFill>
                  <a:srgbClr val="0C7D72"/>
                </a:solidFill>
                <a:latin typeface="Calibri"/>
              </a:rPr>
              <a:t>★ dashed = the hops this study adds (8 · 11 · 12)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1700784"/>
            <a:ext cx="1136873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j11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929" y="1810512"/>
            <a:ext cx="3982221" cy="4343400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1757929" y="1810512"/>
            <a:ext cx="3982221" cy="434340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315200" y="1810512"/>
            <a:ext cx="448056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79792" y="1901952"/>
            <a:ext cx="4206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Capturing the experts' own logic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52360" y="2194560"/>
            <a:ext cx="4251960" cy="39319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>
              <a:spcAft>
                <a:spcPts val="70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• Confirm.</a:t>
            </a:r>
            <a:r>
              <a:rPr sz="1050" b="0" i="0">
                <a:solidFill>
                  <a:srgbClr val="1F2A37"/>
                </a:solidFill>
                <a:latin typeface="Calibri"/>
              </a:rPr>
              <a:t> The flag was right: rejection reason 6, the linked claim stays as evidence, the rule's weight goes up.</a:t>
            </a:r>
          </a:p>
          <a:p>
            <a:pPr>
              <a:spcAft>
                <a:spcPts val="70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• Clear.</a:t>
            </a:r>
            <a:r>
              <a:rPr sz="1050" b="0" i="0">
                <a:solidFill>
                  <a:srgbClr val="1F2A37"/>
                </a:solidFill>
                <a:latin typeface="Calibri"/>
              </a:rPr>
              <a:t> A person looked and let it through: the rule is a little less sure of itself next time.</a:t>
            </a:r>
          </a:p>
          <a:p>
            <a:pPr>
              <a:spcAft>
                <a:spcPts val="70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• Release.</a:t>
            </a:r>
            <a:r>
              <a:rPr sz="1050" b="0" i="0">
                <a:solidFill>
                  <a:srgbClr val="1F2A37"/>
                </a:solidFill>
                <a:latin typeface="Calibri"/>
              </a:rPr>
              <a:t> Pay, but keep the flag on record for the facility's profile.</a:t>
            </a:r>
          </a:p>
          <a:p>
            <a:pPr>
              <a:spcAft>
                <a:spcPts val="70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• Every decision is stored against the rules that fired</a:t>
            </a:r>
            <a:r>
              <a:rPr sz="1050" b="0" i="0">
                <a:solidFill>
                  <a:srgbClr val="1F2A37"/>
                </a:solidFill>
                <a:latin typeface="Calibri"/>
              </a:rPr>
              <a:t> with a note. The dashboard counts confirmed, cleared and released per rule; automatic re-weighting is the next build step.</a:t>
            </a:r>
          </a:p>
          <a:p>
            <a:pPr>
              <a:spcAft>
                <a:spcPts val="70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• This is how 'experts use their own logic' becomes knowledge</a:t>
            </a:r>
            <a:r>
              <a:rPr sz="1050" b="0" i="0">
                <a:solidFill>
                  <a:srgbClr val="1F2A37"/>
                </a:solidFill>
                <a:latin typeface="Calibri"/>
              </a:rPr>
              <a:t> the study can keep: elicitation by decision, not by interview alone.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openIMIS Nepal — Week 5 · the claim journey, the knowledge base and the proposal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6236208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 i="1">
                <a:solidFill>
                  <a:srgbClr val="6B7280"/>
                </a:solidFill>
                <a:latin typeface="Calibri"/>
              </a:rPr>
              <a:t>Sources: Week 2 — why reviewer knowledge is tacit (Polanyi 1966; Shadbolt &amp; Smart 2015) and the elicitation method; app: Journey step 12 and the Dashboard learning-loop table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00200"/>
            <a:ext cx="1280160" cy="76200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Part 4  ·  Biwash Budhathoki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743200"/>
            <a:ext cx="1060704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800" b="0" i="0">
                <a:solidFill>
                  <a:srgbClr val="C7D2E8"/>
                </a:solidFill>
                <a:latin typeface="Calibri"/>
              </a:rPr>
              <a:t>Proposed solution — an additive layer inside openIMIS, what other countries do, how accuracy improves, and future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4160520"/>
            <a:ext cx="11643055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1772" y="4242816"/>
            <a:ext cx="1408176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" y="4242816"/>
            <a:ext cx="1408176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Patient visits hospital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58568" y="4242816"/>
            <a:ext cx="2606040" cy="1828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58568" y="4242816"/>
            <a:ext cx="260604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Health facility submits claim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3228" y="4242816"/>
            <a:ext cx="3204972" cy="1828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3228" y="4242816"/>
            <a:ext cx="3204972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Claim adjudication by HIB / SSF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610989"/>
            <a:ext cx="7786116" cy="317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4610989"/>
            <a:ext cx="3593592" cy="31750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1772" y="4521708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Membership
verification</a:t>
            </a:r>
          </a:p>
        </p:txBody>
      </p:sp>
      <p:sp>
        <p:nvSpPr>
          <p:cNvPr id="17" name="Oval 16"/>
          <p:cNvSpPr/>
          <p:nvPr/>
        </p:nvSpPr>
        <p:spPr>
          <a:xfrm>
            <a:off x="1060704" y="4521708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Hospital card
and care</a:t>
            </a:r>
          </a:p>
        </p:txBody>
      </p:sp>
      <p:sp>
        <p:nvSpPr>
          <p:cNvPr id="19" name="Oval 18"/>
          <p:cNvSpPr/>
          <p:nvPr/>
        </p:nvSpPr>
        <p:spPr>
          <a:xfrm>
            <a:off x="1659636" y="4521708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0744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Nothing paid
at the counter</a:t>
            </a:r>
          </a:p>
        </p:txBody>
      </p:sp>
      <p:sp>
        <p:nvSpPr>
          <p:cNvPr id="21" name="Oval 20"/>
          <p:cNvSpPr/>
          <p:nvPr/>
        </p:nvSpPr>
        <p:spPr>
          <a:xfrm>
            <a:off x="2258568" y="4521708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9676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Claim
document</a:t>
            </a:r>
          </a:p>
        </p:txBody>
      </p:sp>
      <p:sp>
        <p:nvSpPr>
          <p:cNvPr id="23" name="Oval 22"/>
          <p:cNvSpPr/>
          <p:nvPr/>
        </p:nvSpPr>
        <p:spPr>
          <a:xfrm>
            <a:off x="2857500" y="4521708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78608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Entered in
openIMIS</a:t>
            </a:r>
          </a:p>
        </p:txBody>
      </p:sp>
      <p:sp>
        <p:nvSpPr>
          <p:cNvPr id="25" name="Oval 24"/>
          <p:cNvSpPr/>
          <p:nvPr/>
        </p:nvSpPr>
        <p:spPr>
          <a:xfrm>
            <a:off x="3456432" y="4521708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77540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Facility check
and submission</a:t>
            </a:r>
          </a:p>
        </p:txBody>
      </p:sp>
      <p:sp>
        <p:nvSpPr>
          <p:cNvPr id="27" name="Oval 26"/>
          <p:cNvSpPr/>
          <p:nvPr/>
        </p:nvSpPr>
        <p:spPr>
          <a:xfrm>
            <a:off x="4055364" y="4521708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76472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System
verification</a:t>
            </a:r>
          </a:p>
        </p:txBody>
      </p:sp>
      <p:sp>
        <p:nvSpPr>
          <p:cNvPr id="29" name="Oval 28"/>
          <p:cNvSpPr/>
          <p:nvPr/>
        </p:nvSpPr>
        <p:spPr>
          <a:xfrm>
            <a:off x="4608576" y="4475988"/>
            <a:ext cx="301752" cy="301752"/>
          </a:xfrm>
          <a:prstGeom prst="ellipse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54296" y="4521708"/>
            <a:ext cx="210312" cy="2103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3864"/>
                </a:solidFill>
                <a:latin typeface="Calibri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5404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1" i="0">
                <a:solidFill>
                  <a:srgbClr val="1F3864"/>
                </a:solidFill>
                <a:latin typeface="Calibri"/>
              </a:rPr>
              <a:t>Identity and
cross-claim rules</a:t>
            </a:r>
          </a:p>
        </p:txBody>
      </p:sp>
      <p:sp>
        <p:nvSpPr>
          <p:cNvPr id="32" name="Oval 31"/>
          <p:cNvSpPr/>
          <p:nvPr/>
        </p:nvSpPr>
        <p:spPr>
          <a:xfrm>
            <a:off x="5253228" y="4521708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74336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Completeness
check</a:t>
            </a:r>
          </a:p>
        </p:txBody>
      </p:sp>
      <p:sp>
        <p:nvSpPr>
          <p:cNvPr id="34" name="Oval 33"/>
          <p:cNvSpPr/>
          <p:nvPr/>
        </p:nvSpPr>
        <p:spPr>
          <a:xfrm>
            <a:off x="5852160" y="4521708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3268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Benefit
package check</a:t>
            </a:r>
          </a:p>
        </p:txBody>
      </p:sp>
      <p:sp>
        <p:nvSpPr>
          <p:cNvPr id="36" name="Oval 35"/>
          <p:cNvSpPr/>
          <p:nvPr/>
        </p:nvSpPr>
        <p:spPr>
          <a:xfrm>
            <a:off x="6405372" y="4475988"/>
            <a:ext cx="301752" cy="301752"/>
          </a:xfrm>
          <a:prstGeom prst="ellipse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51092" y="4521708"/>
            <a:ext cx="210312" cy="2103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3864"/>
                </a:solidFill>
                <a:latin typeface="Calibri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1" i="0">
                <a:solidFill>
                  <a:srgbClr val="1F3864"/>
                </a:solidFill>
                <a:latin typeface="Calibri"/>
              </a:rPr>
              <a:t>Ranked
review queue</a:t>
            </a:r>
          </a:p>
        </p:txBody>
      </p:sp>
      <p:sp>
        <p:nvSpPr>
          <p:cNvPr id="39" name="Oval 38"/>
          <p:cNvSpPr/>
          <p:nvPr/>
        </p:nvSpPr>
        <p:spPr>
          <a:xfrm>
            <a:off x="7004304" y="4475988"/>
            <a:ext cx="301752" cy="301752"/>
          </a:xfrm>
          <a:prstGeom prst="ellipse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050024" y="4521708"/>
            <a:ext cx="210312" cy="2103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3864"/>
                </a:solidFill>
                <a:latin typeface="Calibri"/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71132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1" i="0">
                <a:solidFill>
                  <a:srgbClr val="1F3864"/>
                </a:solidFill>
                <a:latin typeface="Calibri"/>
              </a:rPr>
              <a:t>Reviewer
decision</a:t>
            </a:r>
          </a:p>
        </p:txBody>
      </p:sp>
      <p:sp>
        <p:nvSpPr>
          <p:cNvPr id="42" name="Oval 41"/>
          <p:cNvSpPr/>
          <p:nvPr/>
        </p:nvSpPr>
        <p:spPr>
          <a:xfrm>
            <a:off x="7648956" y="4521708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70064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Settlement
recommended</a:t>
            </a:r>
          </a:p>
        </p:txBody>
      </p:sp>
      <p:sp>
        <p:nvSpPr>
          <p:cNvPr id="44" name="Oval 43"/>
          <p:cNvSpPr/>
          <p:nvPr/>
        </p:nvSpPr>
        <p:spPr>
          <a:xfrm>
            <a:off x="8247888" y="4521708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68996" y="4750308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Calibri"/>
              </a:rPr>
              <a:t>Approval and
payment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32520" y="4517136"/>
            <a:ext cx="82296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700" b="0" i="1">
                <a:solidFill>
                  <a:srgbClr val="6B7280"/>
                </a:solidFill>
                <a:latin typeface="Calibri"/>
              </a:rPr>
              <a:t>Our layer · Medical Officers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326880" y="4279392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1 · Journey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66960" y="4279392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2 · Knowledge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607040" y="4279392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3 · Rules &amp; review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247120" y="4279392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Calibri"/>
              </a:rPr>
              <a:t>4 · Proposal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26880" y="4754880"/>
            <a:ext cx="2468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0" i="0">
                <a:solidFill>
                  <a:srgbClr val="0C7D72"/>
                </a:solidFill>
                <a:latin typeface="Calibri"/>
              </a:rPr>
              <a:t>★ dashed = the hops this study adds (8 · 11 · 12)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5010912"/>
            <a:ext cx="1136873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5760720"/>
            <a:ext cx="106070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9FB0CE"/>
                </a:solidFill>
                <a:latin typeface="Calibri"/>
              </a:rPr>
              <a:t>openIMIS Nepal — Week 5 · the claim journey, the knowledge base and the proposal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PART 4 · A REAL-LIFE DESIGN FOR HIB AND SSF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113385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1F3864"/>
                </a:solidFill>
                <a:latin typeface="Calibri"/>
              </a:rPr>
              <a:t>Proposed solution — an additive knowledge layer inside openIMIS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" y="932688"/>
            <a:ext cx="1408176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" y="932688"/>
            <a:ext cx="1408176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Patient visits hospital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58568" y="932688"/>
            <a:ext cx="2606040" cy="1828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58568" y="932688"/>
            <a:ext cx="260604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Health facility submits claim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3228" y="932688"/>
            <a:ext cx="3204972" cy="1828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3228" y="932688"/>
            <a:ext cx="3204972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Claim adjudication by HIB / SSF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300861"/>
            <a:ext cx="7786116" cy="317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300861"/>
            <a:ext cx="3593592" cy="31750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1772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1060704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1659636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2258568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2857500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Oval 17"/>
          <p:cNvSpPr/>
          <p:nvPr/>
        </p:nvSpPr>
        <p:spPr>
          <a:xfrm>
            <a:off x="3456432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9" name="Oval 18"/>
          <p:cNvSpPr/>
          <p:nvPr/>
        </p:nvSpPr>
        <p:spPr>
          <a:xfrm>
            <a:off x="4055364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0" name="Oval 19"/>
          <p:cNvSpPr/>
          <p:nvPr/>
        </p:nvSpPr>
        <p:spPr>
          <a:xfrm>
            <a:off x="4608576" y="1165860"/>
            <a:ext cx="301752" cy="301752"/>
          </a:xfrm>
          <a:prstGeom prst="ellipse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54296" y="1211580"/>
            <a:ext cx="210312" cy="2103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3864"/>
                </a:solidFill>
                <a:latin typeface="Calibri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5404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1F3864"/>
                </a:solidFill>
                <a:latin typeface="Calibri"/>
              </a:rPr>
              <a:t>Identity and
cross-claim rules</a:t>
            </a:r>
          </a:p>
        </p:txBody>
      </p:sp>
      <p:sp>
        <p:nvSpPr>
          <p:cNvPr id="23" name="Oval 22"/>
          <p:cNvSpPr/>
          <p:nvPr/>
        </p:nvSpPr>
        <p:spPr>
          <a:xfrm>
            <a:off x="5253228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24" name="Oval 23"/>
          <p:cNvSpPr/>
          <p:nvPr/>
        </p:nvSpPr>
        <p:spPr>
          <a:xfrm>
            <a:off x="5852160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25" name="Oval 24"/>
          <p:cNvSpPr/>
          <p:nvPr/>
        </p:nvSpPr>
        <p:spPr>
          <a:xfrm>
            <a:off x="6405372" y="1165860"/>
            <a:ext cx="301752" cy="301752"/>
          </a:xfrm>
          <a:prstGeom prst="ellipse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51092" y="1211580"/>
            <a:ext cx="210312" cy="2103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3864"/>
                </a:solidFill>
                <a:latin typeface="Calibri"/>
              </a:rP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1F3864"/>
                </a:solidFill>
                <a:latin typeface="Calibri"/>
              </a:rPr>
              <a:t>Ranked
review queue</a:t>
            </a:r>
          </a:p>
        </p:txBody>
      </p:sp>
      <p:sp>
        <p:nvSpPr>
          <p:cNvPr id="28" name="Oval 27"/>
          <p:cNvSpPr/>
          <p:nvPr/>
        </p:nvSpPr>
        <p:spPr>
          <a:xfrm>
            <a:off x="7004304" y="1165860"/>
            <a:ext cx="301752" cy="301752"/>
          </a:xfrm>
          <a:prstGeom prst="ellipse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50024" y="1211580"/>
            <a:ext cx="210312" cy="2103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3864"/>
                </a:solidFill>
                <a:latin typeface="Calibri"/>
              </a:rPr>
              <a:t>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71132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1F3864"/>
                </a:solidFill>
                <a:latin typeface="Calibri"/>
              </a:rPr>
              <a:t>Reviewer
decision</a:t>
            </a:r>
          </a:p>
        </p:txBody>
      </p:sp>
      <p:sp>
        <p:nvSpPr>
          <p:cNvPr id="31" name="Oval 30"/>
          <p:cNvSpPr/>
          <p:nvPr/>
        </p:nvSpPr>
        <p:spPr>
          <a:xfrm>
            <a:off x="7648956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32" name="Oval 31"/>
          <p:cNvSpPr/>
          <p:nvPr/>
        </p:nvSpPr>
        <p:spPr>
          <a:xfrm>
            <a:off x="8247888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1207008"/>
            <a:ext cx="82296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700" b="0" i="1">
                <a:solidFill>
                  <a:srgbClr val="6B7280"/>
                </a:solidFill>
                <a:latin typeface="Calibri"/>
              </a:rPr>
              <a:t>Our layer · Medical Officers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2688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1 · Journey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6696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2 · Knowledge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60704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3 · Rules &amp; review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24712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Calibri"/>
              </a:rPr>
              <a:t>4 · Proposal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1444752"/>
            <a:ext cx="2468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0" i="0">
                <a:solidFill>
                  <a:srgbClr val="0C7D72"/>
                </a:solidFill>
                <a:latin typeface="Calibri"/>
              </a:rPr>
              <a:t>★ dashed = the hops this study adds (8 · 11 · 12)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1700784"/>
            <a:ext cx="1136873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57200" y="1874519"/>
            <a:ext cx="27432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1929383"/>
            <a:ext cx="2560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Calibri"/>
              </a:rPr>
              <a:t>Hospital EMR / openIMIS UI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2185415"/>
            <a:ext cx="256032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Calibri"/>
              </a:rPr>
              <a:t>FHIR R4 Claim or manual entry → enter_and_submit → validate_claim (Engine 1, unchanged)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74720" y="1874519"/>
            <a:ext cx="3017520" cy="1188720"/>
          </a:xfrm>
          <a:prstGeom prst="roundRect">
            <a:avLst>
              <a:gd name="adj" fmla="val 8000"/>
            </a:avLst>
          </a:prstGeom>
          <a:solidFill>
            <a:srgbClr val="E6F6F3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66160" y="1929383"/>
            <a:ext cx="2834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0C7D72"/>
                </a:solidFill>
                <a:latin typeface="Calibri"/>
              </a:rPr>
              <a:t>★ Hook after submit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0" y="2185415"/>
            <a:ext cx="28346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Calibri"/>
              </a:rPr>
              <a:t>Same pattern as claim_ai_quality: bind to claim.enter_and_submit, run after the edits, write results to Claim.json_ext['fraud'] and set review status Selected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766560" y="1874519"/>
            <a:ext cx="2377440" cy="1188720"/>
          </a:xfrm>
          <a:prstGeom prst="roundRect">
            <a:avLst>
              <a:gd name="adj" fmla="val 8000"/>
            </a:avLst>
          </a:prstGeom>
          <a:solidFill>
            <a:srgbClr val="E6F6F3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0" y="1929383"/>
            <a:ext cx="2194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0C7D72"/>
                </a:solidFill>
                <a:latin typeface="Calibri"/>
              </a:rPr>
              <a:t>★ Identity index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2185415"/>
            <a:ext cx="21945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Calibri"/>
              </a:rPr>
              <a:t>National ID first, else name + DOB + sex; one index over both schemes' claim history (the 'vault')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418320" y="1874519"/>
            <a:ext cx="2377440" cy="1188720"/>
          </a:xfrm>
          <a:prstGeom prst="roundRect">
            <a:avLst>
              <a:gd name="adj" fmla="val 8000"/>
            </a:avLst>
          </a:prstGeom>
          <a:solidFill>
            <a:srgbClr val="E6F6F3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09760" y="1929383"/>
            <a:ext cx="2194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0C7D72"/>
                </a:solidFill>
                <a:latin typeface="Calibri"/>
              </a:rPr>
              <a:t>★ Rule base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09760" y="2185415"/>
            <a:ext cx="21945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Calibri"/>
              </a:rPr>
              <a:t>R1–R5 + STG as ontology individuals with weights; protocols and price list as reference data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3246120"/>
            <a:ext cx="27432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3300984"/>
            <a:ext cx="2560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Calibri"/>
              </a:rPr>
              <a:t>openIMIS reviewer UI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3557016"/>
            <a:ext cx="256032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Calibri"/>
              </a:rPr>
              <a:t>extFields renders json_ext columns: rules, suspicion, because; 'Item/Service duplicated' (6) already exists as a reason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474720" y="3246120"/>
            <a:ext cx="3017520" cy="1188720"/>
          </a:xfrm>
          <a:prstGeom prst="roundRect">
            <a:avLst>
              <a:gd name="adj" fmla="val 8000"/>
            </a:avLst>
          </a:prstGeom>
          <a:solidFill>
            <a:srgbClr val="E6F6F3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566160" y="3300984"/>
            <a:ext cx="2834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0C7D72"/>
                </a:solidFill>
                <a:latin typeface="Calibri"/>
              </a:rPr>
              <a:t>★ Ranked queue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66160" y="3557016"/>
            <a:ext cx="28346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Calibri"/>
              </a:rPr>
              <a:t>Replaces random.shuffle in claim_sampling with suspicion order; keeps a random slice as control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766560" y="3246120"/>
            <a:ext cx="5029200" cy="1188720"/>
          </a:xfrm>
          <a:prstGeom prst="roundRect">
            <a:avLst>
              <a:gd name="adj" fmla="val 8000"/>
            </a:avLst>
          </a:prstGeom>
          <a:solidFill>
            <a:srgbClr val="E6F6F3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0" y="3300984"/>
            <a:ext cx="4846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0C7D72"/>
                </a:solidFill>
                <a:latin typeface="Calibri"/>
              </a:rPr>
              <a:t>★ Decision feedback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0" y="3557016"/>
            <a:ext cx="484632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Calibri"/>
              </a:rPr>
              <a:t>confirm / clear / release stored against the rules that fired → weights; audit trail with provenance for every flag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3200400" y="2377440"/>
            <a:ext cx="274320" cy="201168"/>
          </a:xfrm>
          <a:prstGeom prst="rightArrow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ight Arrow 61"/>
          <p:cNvSpPr/>
          <p:nvPr/>
        </p:nvSpPr>
        <p:spPr>
          <a:xfrm>
            <a:off x="6492240" y="2377440"/>
            <a:ext cx="274320" cy="201168"/>
          </a:xfrm>
          <a:prstGeom prst="rightArrow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ight Arrow 62"/>
          <p:cNvSpPr/>
          <p:nvPr/>
        </p:nvSpPr>
        <p:spPr>
          <a:xfrm>
            <a:off x="9144000" y="2377440"/>
            <a:ext cx="274320" cy="201168"/>
          </a:xfrm>
          <a:prstGeom prst="rightArrow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457200" y="4617720"/>
            <a:ext cx="1133856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" y="4690872"/>
            <a:ext cx="10972800" cy="8229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>
              <a:spcAft>
                <a:spcPts val="50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Why additive: </a:t>
            </a:r>
            <a:r>
              <a:rPr sz="1050" b="0" i="0">
                <a:solidFill>
                  <a:srgbClr val="1F2A37"/>
                </a:solidFill>
                <a:latin typeface="Calibri"/>
              </a:rPr>
              <a:t>no change to openIMIS's own edits, statuses or payment; deployable per scheme first (within-scheme rules R1, R2, R4, R5, STG), and cross-scheme R3 as soon as both schemes expose a shared identity index. </a:t>
            </a:r>
            <a:r>
              <a:rPr sz="1050" b="1" i="0">
                <a:solidFill>
                  <a:srgbClr val="1F3864"/>
                </a:solidFill>
                <a:latin typeface="Calibri"/>
              </a:rPr>
              <a:t>Cross-scheme prerequisite: </a:t>
            </a:r>
            <a:r>
              <a:rPr sz="1050" b="0" i="0">
                <a:solidFill>
                  <a:srgbClr val="1F2A37"/>
                </a:solidFill>
                <a:latin typeface="Calibri"/>
              </a:rPr>
              <a:t>National-ID capture at enrolment and a data-sharing agreement between HIB and SSF, or a neutral matching service.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5623560"/>
            <a:ext cx="11338560" cy="5486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>
              <a:spcAft>
                <a:spcPts val="500"/>
              </a:spcAft>
            </a:pPr>
            <a:r>
              <a:rPr sz="1050" b="1" i="0">
                <a:solidFill>
                  <a:srgbClr val="0C7D72"/>
                </a:solidFill>
                <a:latin typeface="Calibri"/>
              </a:rPr>
              <a:t>Rollout: </a:t>
            </a:r>
            <a:r>
              <a:rPr sz="1050" b="0" i="0">
                <a:solidFill>
                  <a:srgbClr val="1F2A37"/>
                </a:solidFill>
                <a:latin typeface="Calibri"/>
              </a:rPr>
              <a:t>1 within-scheme module at HIB (R1, R2, R4, R5, STG) → 2 ranked queue for Medical Officers → 3 National-ID capture and the shared identity index → 4 cross-scheme R3 with SSF.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openIMIS Nepal — Week 5 · the claim journey, the knowledge base and the proposal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16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1480" y="6236208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 i="1">
                <a:solidFill>
                  <a:srgbClr val="6B7280"/>
                </a:solidFill>
                <a:latin typeface="Calibri"/>
              </a:rPr>
              <a:t>Sources: Week 1 recommendation — National-ID-keyed cross-scheme check (HIB, Apr 2024); openimis-be-claim_ai_quality_py as the integration pattern; openIMIS wiki — AI-based claim adjudication; blueprint Week 3-4/repos/REPOS.md §10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PART 4 · COMPARISON, SHORT · CONTINUES THE WEEK 2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113385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1F3864"/>
                </a:solidFill>
                <a:latin typeface="Calibri"/>
              </a:rPr>
              <a:t>How other countries detect fraud — and what we borrow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" y="932688"/>
            <a:ext cx="1408176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" y="932688"/>
            <a:ext cx="1408176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Patient visits hospital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58568" y="932688"/>
            <a:ext cx="2606040" cy="1828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58568" y="932688"/>
            <a:ext cx="260604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Health facility submits claim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3228" y="932688"/>
            <a:ext cx="3204972" cy="1828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3228" y="932688"/>
            <a:ext cx="3204972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Claim adjudication by HIB / SSF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300861"/>
            <a:ext cx="7786116" cy="317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300861"/>
            <a:ext cx="3593592" cy="31750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1772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1060704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1659636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2258568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2857500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Oval 17"/>
          <p:cNvSpPr/>
          <p:nvPr/>
        </p:nvSpPr>
        <p:spPr>
          <a:xfrm>
            <a:off x="3456432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9" name="Oval 18"/>
          <p:cNvSpPr/>
          <p:nvPr/>
        </p:nvSpPr>
        <p:spPr>
          <a:xfrm>
            <a:off x="4055364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0" name="Oval 19"/>
          <p:cNvSpPr/>
          <p:nvPr/>
        </p:nvSpPr>
        <p:spPr>
          <a:xfrm>
            <a:off x="4608576" y="1165860"/>
            <a:ext cx="301752" cy="301752"/>
          </a:xfrm>
          <a:prstGeom prst="ellipse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54296" y="1211580"/>
            <a:ext cx="210312" cy="2103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3864"/>
                </a:solidFill>
                <a:latin typeface="Calibri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5404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1F3864"/>
                </a:solidFill>
                <a:latin typeface="Calibri"/>
              </a:rPr>
              <a:t>Identity and
cross-claim rules</a:t>
            </a:r>
          </a:p>
        </p:txBody>
      </p:sp>
      <p:sp>
        <p:nvSpPr>
          <p:cNvPr id="23" name="Oval 22"/>
          <p:cNvSpPr/>
          <p:nvPr/>
        </p:nvSpPr>
        <p:spPr>
          <a:xfrm>
            <a:off x="5253228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24" name="Oval 23"/>
          <p:cNvSpPr/>
          <p:nvPr/>
        </p:nvSpPr>
        <p:spPr>
          <a:xfrm>
            <a:off x="5852160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25" name="Oval 24"/>
          <p:cNvSpPr/>
          <p:nvPr/>
        </p:nvSpPr>
        <p:spPr>
          <a:xfrm>
            <a:off x="6405372" y="1165860"/>
            <a:ext cx="301752" cy="301752"/>
          </a:xfrm>
          <a:prstGeom prst="ellipse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51092" y="1211580"/>
            <a:ext cx="210312" cy="2103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3864"/>
                </a:solidFill>
                <a:latin typeface="Calibri"/>
              </a:rP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1F3864"/>
                </a:solidFill>
                <a:latin typeface="Calibri"/>
              </a:rPr>
              <a:t>Ranked
review queue</a:t>
            </a:r>
          </a:p>
        </p:txBody>
      </p:sp>
      <p:sp>
        <p:nvSpPr>
          <p:cNvPr id="28" name="Oval 27"/>
          <p:cNvSpPr/>
          <p:nvPr/>
        </p:nvSpPr>
        <p:spPr>
          <a:xfrm>
            <a:off x="7050024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C7D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0C7D72"/>
                </a:solidFill>
                <a:latin typeface="Calibri"/>
              </a:rPr>
              <a:t>12</a:t>
            </a:r>
          </a:p>
        </p:txBody>
      </p:sp>
      <p:sp>
        <p:nvSpPr>
          <p:cNvPr id="29" name="Oval 28"/>
          <p:cNvSpPr/>
          <p:nvPr/>
        </p:nvSpPr>
        <p:spPr>
          <a:xfrm>
            <a:off x="7648956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30" name="Oval 29"/>
          <p:cNvSpPr/>
          <p:nvPr/>
        </p:nvSpPr>
        <p:spPr>
          <a:xfrm>
            <a:off x="8247888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1207008"/>
            <a:ext cx="82296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700" b="0" i="1">
                <a:solidFill>
                  <a:srgbClr val="6B7280"/>
                </a:solidFill>
                <a:latin typeface="Calibri"/>
              </a:rPr>
              <a:t>Our layer · Medical Officers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1 · Journey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6696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2 · Knowledge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60704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3 · Rules &amp; review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24712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Calibri"/>
              </a:rPr>
              <a:t>4 · Proposal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1444752"/>
            <a:ext cx="2468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0" i="0">
                <a:solidFill>
                  <a:srgbClr val="0C7D72"/>
                </a:solidFill>
                <a:latin typeface="Calibri"/>
              </a:rPr>
              <a:t>★ dashed = the hops this study adds (8 · 11 · 12)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1700784"/>
            <a:ext cx="1136873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457200" y="1828800"/>
          <a:ext cx="113385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566160"/>
                <a:gridCol w="3017520"/>
                <a:gridCol w="3291840"/>
              </a:tblGrid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What they do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Result reported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What we borrow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864"/>
                          </a:solidFill>
                          <a:latin typeface="Calibri"/>
                        </a:rPr>
                        <a:t>South Korea, HIRA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Single payer; 99 % electronic claims; automatic error checks at the gateway, then electronic review criteria, then expert review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Gateway returns 2.7 % inpatient claims as unreviewable; review support flags 23 % multi-error inpatient claims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Layered review: automatic edits → knowledge rules → expert; explanations for the expert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864"/>
                          </a:solidFill>
                          <a:latin typeface="Calibri"/>
                        </a:rPr>
                        <a:t>Taiwan, NHI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Single payer; fully automated submission and examination; IC card; real-time linkage against duplicate services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Administrative cost about 1 % of medical spend; claims filed within 24 h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One identity across all providers; near-real-time checks before payment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864"/>
                          </a:solidFill>
                          <a:latin typeface="Calibri"/>
                        </a:rPr>
                        <a:t>India, PM-JAY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National anti-fraud unit, analytics on claims, provider profiling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Documented anti-fraud toolkit for a large scheme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Fraud typology; provider-level features (NMC number, facility profile)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864"/>
                          </a:solidFill>
                          <a:latin typeface="Calibri"/>
                        </a:rPr>
                        <a:t>openIMIS AI claims module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Per-item classifier in the review step, 80,000+ claims a day in Nepal's pilot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Complements manual review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A37"/>
                          </a:solidFill>
                          <a:latin typeface="Calibri"/>
                        </a:rPr>
                        <a:t>The hook point and json_ext pattern; our rules explain where a classifier cannot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457200" y="5074920"/>
            <a:ext cx="11338560" cy="10058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F3864"/>
                </a:solidFill>
                <a:latin typeface="Calibri"/>
              </a:rPr>
              <a:t>Caveat. </a:t>
            </a:r>
            <a:r>
              <a:rPr sz="1100" b="0" i="0">
                <a:solidFill>
                  <a:srgbClr val="1F2A37"/>
                </a:solidFill>
                <a:latin typeface="Calibri"/>
              </a:rPr>
              <a:t>Korea and Taiwan are single-payer, near-universal, one-dataset systems. Nepal has two payers and partial National-ID coverage, so the transferable lesson is not 'one system' but </a:t>
            </a:r>
            <a:r>
              <a:rPr sz="1100" b="1" i="0">
                <a:solidFill>
                  <a:srgbClr val="1F2A37"/>
                </a:solidFill>
                <a:latin typeface="Calibri"/>
              </a:rPr>
              <a:t>one identity and checks before payment</a:t>
            </a:r>
            <a:r>
              <a:rPr sz="1100" b="0" i="0">
                <a:solidFill>
                  <a:srgbClr val="1F2A37"/>
                </a:solidFill>
                <a:latin typeface="Calibri"/>
              </a:rPr>
              <a:t>, which is exactly what hops 8 and 11 add.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openIMIS Nepal — Week 5 · the claim journey, the knowledge base and the proposal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6236208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 i="1">
                <a:solidFill>
                  <a:srgbClr val="6B7280"/>
                </a:solidFill>
                <a:latin typeface="Calibri"/>
              </a:rPr>
              <a:t>Sources: HIRA (South Korea) — claim review using IT; Taiwan NHI / MOHW; National Health Authority (India) anti-fraud framework and guidebook (Sep 2024); World Bank SHI study (2018); claim adjudication report (2025) refs 22, 62, 67–73; openIMIS AI claims solution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PART 4 · 9,786 CLAIMS · 454 PLANTED FRAUDS · SAME REVIEWER BUDGET AS TODAY'S 5 % 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113385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1F3864"/>
                </a:solidFill>
                <a:latin typeface="Calibri"/>
              </a:rPr>
              <a:t>Accuracy in claim verification — evidence on the synthetic book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" y="932688"/>
            <a:ext cx="1408176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" y="932688"/>
            <a:ext cx="1408176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Patient visits hospital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58568" y="932688"/>
            <a:ext cx="2606040" cy="1828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58568" y="932688"/>
            <a:ext cx="260604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Health facility submits claim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3228" y="932688"/>
            <a:ext cx="3204972" cy="1828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3228" y="932688"/>
            <a:ext cx="3204972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Claim adjudication by HIB / SSF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300861"/>
            <a:ext cx="7786116" cy="317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300861"/>
            <a:ext cx="3593592" cy="31750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1772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1060704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1659636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2258568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2857500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Oval 17"/>
          <p:cNvSpPr/>
          <p:nvPr/>
        </p:nvSpPr>
        <p:spPr>
          <a:xfrm>
            <a:off x="3456432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9" name="Oval 18"/>
          <p:cNvSpPr/>
          <p:nvPr/>
        </p:nvSpPr>
        <p:spPr>
          <a:xfrm>
            <a:off x="4055364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0" name="Oval 19"/>
          <p:cNvSpPr/>
          <p:nvPr/>
        </p:nvSpPr>
        <p:spPr>
          <a:xfrm>
            <a:off x="4608576" y="1165860"/>
            <a:ext cx="301752" cy="301752"/>
          </a:xfrm>
          <a:prstGeom prst="ellipse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54296" y="1211580"/>
            <a:ext cx="210312" cy="2103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3864"/>
                </a:solidFill>
                <a:latin typeface="Calibri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5404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1F3864"/>
                </a:solidFill>
                <a:latin typeface="Calibri"/>
              </a:rPr>
              <a:t>Identity and
cross-claim rules</a:t>
            </a:r>
          </a:p>
        </p:txBody>
      </p:sp>
      <p:sp>
        <p:nvSpPr>
          <p:cNvPr id="23" name="Oval 22"/>
          <p:cNvSpPr/>
          <p:nvPr/>
        </p:nvSpPr>
        <p:spPr>
          <a:xfrm>
            <a:off x="5253228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24" name="Oval 23"/>
          <p:cNvSpPr/>
          <p:nvPr/>
        </p:nvSpPr>
        <p:spPr>
          <a:xfrm>
            <a:off x="5852160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25" name="Oval 24"/>
          <p:cNvSpPr/>
          <p:nvPr/>
        </p:nvSpPr>
        <p:spPr>
          <a:xfrm>
            <a:off x="6405372" y="1165860"/>
            <a:ext cx="301752" cy="301752"/>
          </a:xfrm>
          <a:prstGeom prst="ellipse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51092" y="1211580"/>
            <a:ext cx="210312" cy="2103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3864"/>
                </a:solidFill>
                <a:latin typeface="Calibri"/>
              </a:rP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1F3864"/>
                </a:solidFill>
                <a:latin typeface="Calibri"/>
              </a:rPr>
              <a:t>Ranked
review queue</a:t>
            </a:r>
          </a:p>
        </p:txBody>
      </p:sp>
      <p:sp>
        <p:nvSpPr>
          <p:cNvPr id="28" name="Oval 27"/>
          <p:cNvSpPr/>
          <p:nvPr/>
        </p:nvSpPr>
        <p:spPr>
          <a:xfrm>
            <a:off x="7004304" y="1165860"/>
            <a:ext cx="301752" cy="301752"/>
          </a:xfrm>
          <a:prstGeom prst="ellipse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50024" y="1211580"/>
            <a:ext cx="210312" cy="2103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3864"/>
                </a:solidFill>
                <a:latin typeface="Calibri"/>
              </a:rPr>
              <a:t>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71132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1F3864"/>
                </a:solidFill>
                <a:latin typeface="Calibri"/>
              </a:rPr>
              <a:t>Reviewer
decision</a:t>
            </a:r>
          </a:p>
        </p:txBody>
      </p:sp>
      <p:sp>
        <p:nvSpPr>
          <p:cNvPr id="31" name="Oval 30"/>
          <p:cNvSpPr/>
          <p:nvPr/>
        </p:nvSpPr>
        <p:spPr>
          <a:xfrm>
            <a:off x="7648956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32" name="Oval 31"/>
          <p:cNvSpPr/>
          <p:nvPr/>
        </p:nvSpPr>
        <p:spPr>
          <a:xfrm>
            <a:off x="8247888" y="1211580"/>
            <a:ext cx="210312" cy="2103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1207008"/>
            <a:ext cx="82296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700" b="0" i="1">
                <a:solidFill>
                  <a:srgbClr val="6B7280"/>
                </a:solidFill>
                <a:latin typeface="Calibri"/>
              </a:rPr>
              <a:t>Our layer · Medical Officers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2688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1 · Journey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6696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2 · Knowledge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60704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3 · Rules &amp; review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24712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Calibri"/>
              </a:rPr>
              <a:t>4 · Proposal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1444752"/>
            <a:ext cx="2468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0" i="0">
                <a:solidFill>
                  <a:srgbClr val="0C7D72"/>
                </a:solidFill>
                <a:latin typeface="Calibri"/>
              </a:rPr>
              <a:t>★ dashed = the hops this study adds (8 · 11 · 12)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1700784"/>
            <a:ext cx="1136873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57200" y="1828800"/>
            <a:ext cx="265176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1901952"/>
            <a:ext cx="26517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2400" b="1" i="0">
                <a:solidFill>
                  <a:srgbClr val="0C7D72"/>
                </a:solidFill>
                <a:latin typeface="Calibri"/>
              </a:rPr>
              <a:t>4 → 418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2340864"/>
            <a:ext cx="265176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frauds caught: existing engine → with our layer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37560" y="1828800"/>
            <a:ext cx="265176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37560" y="1901952"/>
            <a:ext cx="26517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2400" b="1" i="0">
                <a:solidFill>
                  <a:srgbClr val="1F3864"/>
                </a:solidFill>
                <a:latin typeface="Calibri"/>
              </a:rPr>
              <a:t>91.9 %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2340864"/>
            <a:ext cx="265176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precision (37 false positives)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1828800"/>
            <a:ext cx="265176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0" y="1901952"/>
            <a:ext cx="26517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2400" b="1" i="0">
                <a:solidFill>
                  <a:srgbClr val="1F3864"/>
                </a:solidFill>
                <a:latin typeface="Calibri"/>
              </a:rPr>
              <a:t>92.1 %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2340864"/>
            <a:ext cx="265176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recall (36 missed, 29 of them the hard cases)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98280" y="1828800"/>
            <a:ext cx="26974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98280" y="1901952"/>
            <a:ext cx="26974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2400" b="1" i="0">
                <a:solidFill>
                  <a:srgbClr val="0C7D72"/>
                </a:solidFill>
                <a:latin typeface="Calibri"/>
              </a:rPr>
              <a:t>≈ 15×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98280" y="2340864"/>
            <a:ext cx="2697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more fraud per reviewer hour than the random 5 % sample</a:t>
            </a:r>
          </a:p>
        </p:txBody>
      </p:sp>
      <p:pic>
        <p:nvPicPr>
          <p:cNvPr id="52" name="Picture 51" descr="dash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078242"/>
            <a:ext cx="6949440" cy="285035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411480" y="3078242"/>
            <a:ext cx="6949440" cy="2850356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589520" y="2880360"/>
            <a:ext cx="420624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54112" y="2971800"/>
            <a:ext cx="3931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What changes for HIB and SSF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26679" y="3246120"/>
            <a:ext cx="3977639" cy="28346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>
              <a:spcAft>
                <a:spcPts val="500"/>
              </a:spcAft>
            </a:pPr>
            <a:r>
              <a:rPr sz="950" b="1" i="0">
                <a:solidFill>
                  <a:srgbClr val="1F3864"/>
                </a:solidFill>
                <a:latin typeface="Calibri"/>
              </a:rPr>
              <a:t>• Before payment, not after.</a:t>
            </a:r>
            <a:r>
              <a:rPr sz="950" b="0" i="0">
                <a:solidFill>
                  <a:srgbClr val="1F2A37"/>
                </a:solidFill>
                <a:latin typeface="Calibri"/>
              </a:rPr>
              <a:t> Flags arrive between system verification and settlement, while a correction is still cheap.</a:t>
            </a:r>
          </a:p>
          <a:p>
            <a:pPr>
              <a:spcAft>
                <a:spcPts val="500"/>
              </a:spcAft>
            </a:pPr>
            <a:r>
              <a:rPr sz="950" b="1" i="0">
                <a:solidFill>
                  <a:srgbClr val="1F3864"/>
                </a:solidFill>
                <a:latin typeface="Calibri"/>
              </a:rPr>
              <a:t>• Reviewers see fewer, better claims.</a:t>
            </a:r>
            <a:r>
              <a:rPr sz="950" b="0" i="0">
                <a:solidFill>
                  <a:srgbClr val="1F2A37"/>
                </a:solidFill>
                <a:latin typeface="Calibri"/>
              </a:rPr>
              <a:t> The same 5 % budget covers the claims that matter, each with a reason.</a:t>
            </a:r>
          </a:p>
          <a:p>
            <a:pPr>
              <a:spcAft>
                <a:spcPts val="500"/>
              </a:spcAft>
            </a:pPr>
            <a:r>
              <a:rPr sz="950" b="1" i="0">
                <a:solidFill>
                  <a:srgbClr val="1F3864"/>
                </a:solidFill>
                <a:latin typeface="Calibri"/>
              </a:rPr>
              <a:t>• Rejections become explainable.</a:t>
            </a:r>
            <a:r>
              <a:rPr sz="950" b="0" i="0">
                <a:solidFill>
                  <a:srgbClr val="1F2A37"/>
                </a:solidFill>
                <a:latin typeface="Calibri"/>
              </a:rPr>
              <a:t> Reason 6 with the linked claim; reason 8's job done by the STG rule.</a:t>
            </a:r>
          </a:p>
          <a:p>
            <a:pPr>
              <a:spcAft>
                <a:spcPts val="500"/>
              </a:spcAft>
            </a:pPr>
            <a:r>
              <a:rPr sz="950" b="1" i="0">
                <a:solidFill>
                  <a:srgbClr val="1F3864"/>
                </a:solidFill>
                <a:latin typeface="Calibri"/>
              </a:rPr>
              <a:t>• Evidence for policy.</a:t>
            </a:r>
            <a:r>
              <a:rPr sz="950" b="0" i="0">
                <a:solidFill>
                  <a:srgbClr val="1F2A37"/>
                </a:solidFill>
                <a:latin typeface="Calibri"/>
              </a:rPr>
              <a:t> The 0 % hard cases quantify what National-ID linkage would buy.</a:t>
            </a:r>
          </a:p>
          <a:p>
            <a:pPr>
              <a:spcAft>
                <a:spcPts val="500"/>
              </a:spcAft>
            </a:pPr>
            <a:r>
              <a:rPr sz="950" b="1" i="0">
                <a:solidFill>
                  <a:srgbClr val="1F3864"/>
                </a:solidFill>
                <a:latin typeface="Calibri"/>
              </a:rPr>
              <a:t>• Limits.</a:t>
            </a:r>
            <a:r>
              <a:rPr sz="950" b="0" i="0">
                <a:solidFill>
                  <a:srgbClr val="1F2A37"/>
                </a:solidFill>
                <a:latin typeface="Calibri"/>
              </a:rPr>
              <a:t> Synthetic data; real recall depends on National-ID coverage and name quality; protocols need clinical validation.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openIMIS Nepal — Week 5 · the claim journey, the knowledge base and the proposal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18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1480" y="6236208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 i="1">
                <a:solidFill>
                  <a:srgbClr val="6B7280"/>
                </a:solidFill>
                <a:latin typeface="Calibri"/>
              </a:rPr>
              <a:t>Sources: Week 1 metric — share of claims safely triaged with a correct justification; Week 2 evaluation plan — precision@N and false-positive rate; app: Dashboard; synthetic_data/out/RESULTS.md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PART 4 · FROM THE WEEK 2 ACCESS PLAN TO A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113385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1F3864"/>
                </a:solidFill>
                <a:latin typeface="Calibri"/>
              </a:rPr>
              <a:t>Future work — next steps, in order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" y="932688"/>
            <a:ext cx="1408176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" y="932688"/>
            <a:ext cx="1408176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Patient visits hospital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58568" y="932688"/>
            <a:ext cx="2606040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58568" y="932688"/>
            <a:ext cx="260604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Health facility submits claim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3228" y="932688"/>
            <a:ext cx="3204972" cy="1828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3228" y="932688"/>
            <a:ext cx="3204972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Claim adjudication by HIB / SSF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300861"/>
            <a:ext cx="7786116" cy="317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300861"/>
            <a:ext cx="7187184" cy="31750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1772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1060704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1659636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2258568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2857500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Oval 17"/>
          <p:cNvSpPr/>
          <p:nvPr/>
        </p:nvSpPr>
        <p:spPr>
          <a:xfrm>
            <a:off x="3456432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9" name="Oval 18"/>
          <p:cNvSpPr/>
          <p:nvPr/>
        </p:nvSpPr>
        <p:spPr>
          <a:xfrm>
            <a:off x="4055364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0" name="Oval 19"/>
          <p:cNvSpPr/>
          <p:nvPr/>
        </p:nvSpPr>
        <p:spPr>
          <a:xfrm>
            <a:off x="4654296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1" name="Oval 20"/>
          <p:cNvSpPr/>
          <p:nvPr/>
        </p:nvSpPr>
        <p:spPr>
          <a:xfrm>
            <a:off x="5253228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2" name="Oval 21"/>
          <p:cNvSpPr/>
          <p:nvPr/>
        </p:nvSpPr>
        <p:spPr>
          <a:xfrm>
            <a:off x="5852160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3" name="Oval 22"/>
          <p:cNvSpPr/>
          <p:nvPr/>
        </p:nvSpPr>
        <p:spPr>
          <a:xfrm>
            <a:off x="6451092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24" name="Oval 23"/>
          <p:cNvSpPr/>
          <p:nvPr/>
        </p:nvSpPr>
        <p:spPr>
          <a:xfrm>
            <a:off x="7050024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25" name="Oval 24"/>
          <p:cNvSpPr/>
          <p:nvPr/>
        </p:nvSpPr>
        <p:spPr>
          <a:xfrm>
            <a:off x="7648956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26" name="Oval 25"/>
          <p:cNvSpPr/>
          <p:nvPr/>
        </p:nvSpPr>
        <p:spPr>
          <a:xfrm>
            <a:off x="8202168" y="1165860"/>
            <a:ext cx="301752" cy="301752"/>
          </a:xfrm>
          <a:prstGeom prst="ellipse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47888" y="1211580"/>
            <a:ext cx="210312" cy="2103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3864"/>
                </a:solidFill>
                <a:latin typeface="Calibri"/>
              </a:rPr>
              <a:t>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68996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1F3864"/>
                </a:solidFill>
                <a:latin typeface="Calibri"/>
              </a:rPr>
              <a:t>Approval and
payment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1207008"/>
            <a:ext cx="82296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700" b="0" i="1">
                <a:solidFill>
                  <a:srgbClr val="6B7280"/>
                </a:solidFill>
                <a:latin typeface="Calibri"/>
              </a:rPr>
              <a:t>Exec. Director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2688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1 · Journey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6696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2 · Knowledge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60704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3 · Rules &amp; review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24712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Calibri"/>
              </a:rPr>
              <a:t>4 · Proposal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1444752"/>
            <a:ext cx="2468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0" i="0">
                <a:solidFill>
                  <a:srgbClr val="0C7D72"/>
                </a:solidFill>
                <a:latin typeface="Calibri"/>
              </a:rPr>
              <a:t>★ dashed = the hops this study adds (8 · 11 · 12)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1700784"/>
            <a:ext cx="1136873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457200" y="1828800"/>
          <a:ext cx="11338558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984"/>
                <a:gridCol w="6451249"/>
                <a:gridCol w="3518863"/>
                <a:gridCol w="977462"/>
              </a:tblGrid>
              <a:tr h="47548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Next step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Hop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Probabilistic identity matching: name normalisation, transliteration variants, date-of-birth tolerance; then National-ID linkage between HIB and SSF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The only cause of the 0 % hard cases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Validate the treatment protocols with clinicians and bind services to ICHI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STG precision depends on protocol quality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Automatic re-weighting of rules from reviewer decisions (confirm / clear / release)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Turns elicitation-by-decision into learning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Pilot as an openIMIS module on real HIB data with Medical Officers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Synthetic numbers must be confirmed on real claims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8 · 11 · 12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Provider profiling: facility- and doctor-level features (NMC number) and R6 for repeat offenders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Fraud is concentrated in a few providers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Devanagari names and the Nepali UI; SSF claim-vault synchronisation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Deployment realities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5 · 8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7" name="Rounded Rectangle 36"/>
          <p:cNvSpPr/>
          <p:nvPr/>
        </p:nvSpPr>
        <p:spPr>
          <a:xfrm>
            <a:off x="457200" y="5120640"/>
            <a:ext cx="11338560" cy="960120"/>
          </a:xfrm>
          <a:prstGeom prst="roundRect">
            <a:avLst>
              <a:gd name="adj" fmla="val 10000"/>
            </a:avLst>
          </a:prstGeom>
          <a:solidFill>
            <a:srgbClr val="E6F6F3"/>
          </a:solidFill>
          <a:ln w="9525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193792"/>
            <a:ext cx="10972800" cy="8686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>
              <a:spcAft>
                <a:spcPts val="500"/>
              </a:spcAft>
            </a:pPr>
            <a:r>
              <a:rPr sz="1200" b="1" i="0">
                <a:solidFill>
                  <a:srgbClr val="0C7D72"/>
                </a:solidFill>
                <a:latin typeface="Calibri"/>
              </a:rPr>
              <a:t>In one sentence: </a:t>
            </a:r>
            <a:r>
              <a:rPr sz="1200" b="0" i="0">
                <a:solidFill>
                  <a:srgbClr val="1F2A37"/>
                </a:solidFill>
                <a:latin typeface="Calibri"/>
              </a:rPr>
              <a:t>openIMIS already checks every claim; nobody checks the person. A knowledge-based layer that knows who the person is, remembers their claims across facilities and schemes, and explains its suspicion to a reviewer turns a random 5 % sample into a ranked, explainable review, before the money leaves.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openIMIS Nepal — Week 5 · the claim journey, the knowledge base and the proposal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19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6236208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 i="1">
                <a:solidFill>
                  <a:srgbClr val="6B7280"/>
                </a:solidFill>
                <a:latin typeface="Calibri"/>
              </a:rPr>
              <a:t>Sources: Week 2 access plan (Track A proxy experts, Track B NHRC ethics + university letter to HIB via GIZ); Week 3-4 report §10; everything shown runs locally from Week 3-4/mvp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PART 4 · CARRIED OVER FROM THE WEEK 1 AND WEEK 2 DECKS, EXTENDED IN WEEKS 3–5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113385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1F3864"/>
                </a:solidFill>
                <a:latin typeface="Calibri"/>
              </a:rPr>
              <a:t>References (1 of 2) — Nepal, openIMIS and the case-study 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" y="932688"/>
            <a:ext cx="1408176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" y="932688"/>
            <a:ext cx="1408176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Patient visits hospital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58568" y="932688"/>
            <a:ext cx="2606040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58568" y="932688"/>
            <a:ext cx="260604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Health facility submits claim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3228" y="932688"/>
            <a:ext cx="3204972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3228" y="932688"/>
            <a:ext cx="3204972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Claim adjudication by HIB / SSF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300861"/>
            <a:ext cx="7786116" cy="317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300861"/>
            <a:ext cx="7786116" cy="31750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1772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1060704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1659636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2258568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2857500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Oval 17"/>
          <p:cNvSpPr/>
          <p:nvPr/>
        </p:nvSpPr>
        <p:spPr>
          <a:xfrm>
            <a:off x="3456432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9" name="Oval 18"/>
          <p:cNvSpPr/>
          <p:nvPr/>
        </p:nvSpPr>
        <p:spPr>
          <a:xfrm>
            <a:off x="4055364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0" name="Oval 19"/>
          <p:cNvSpPr/>
          <p:nvPr/>
        </p:nvSpPr>
        <p:spPr>
          <a:xfrm>
            <a:off x="4654296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1" name="Oval 20"/>
          <p:cNvSpPr/>
          <p:nvPr/>
        </p:nvSpPr>
        <p:spPr>
          <a:xfrm>
            <a:off x="5253228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2" name="Oval 21"/>
          <p:cNvSpPr/>
          <p:nvPr/>
        </p:nvSpPr>
        <p:spPr>
          <a:xfrm>
            <a:off x="5852160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3" name="Oval 22"/>
          <p:cNvSpPr/>
          <p:nvPr/>
        </p:nvSpPr>
        <p:spPr>
          <a:xfrm>
            <a:off x="6451092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24" name="Oval 23"/>
          <p:cNvSpPr/>
          <p:nvPr/>
        </p:nvSpPr>
        <p:spPr>
          <a:xfrm>
            <a:off x="7050024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25" name="Oval 24"/>
          <p:cNvSpPr/>
          <p:nvPr/>
        </p:nvSpPr>
        <p:spPr>
          <a:xfrm>
            <a:off x="7648956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26" name="Oval 25"/>
          <p:cNvSpPr/>
          <p:nvPr/>
        </p:nvSpPr>
        <p:spPr>
          <a:xfrm>
            <a:off x="8247888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88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1 · Journey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6696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2 · Knowledge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60704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3 · Rules &amp; review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24712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Calibri"/>
              </a:rPr>
              <a:t>4 · Proposal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1444752"/>
            <a:ext cx="2468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0" i="0">
                <a:solidFill>
                  <a:srgbClr val="0C7D72"/>
                </a:solidFill>
                <a:latin typeface="Calibri"/>
              </a:rPr>
              <a:t>★ dashed = the hops this study adds (8 · 11 · 12)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1700784"/>
            <a:ext cx="1136873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1810512"/>
            <a:ext cx="11338560" cy="43891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>
              <a:spcAft>
                <a:spcPts val="400"/>
              </a:spcAft>
            </a:pPr>
            <a:r>
              <a:rPr sz="900" b="1" i="0">
                <a:solidFill>
                  <a:srgbClr val="1F3864"/>
                </a:solidFill>
                <a:latin typeface="Calibri"/>
              </a:rPr>
              <a:t>1. </a:t>
            </a:r>
            <a:r>
              <a:rPr sz="900" b="0" i="0">
                <a:solidFill>
                  <a:srgbClr val="1F2A37"/>
                </a:solidFill>
                <a:latin typeface="Calibri"/>
              </a:rPr>
              <a:t>HIB — 'openIMIS: an Implementation Experience in Nepal', Dr. Radhika Thapaliya et al., Health Insurance Board, AeHIN Hour, 11 Aug 2020 (presentation).</a:t>
            </a:r>
          </a:p>
          <a:p>
            <a:pPr>
              <a:spcAft>
                <a:spcPts val="400"/>
              </a:spcAft>
            </a:pPr>
            <a:r>
              <a:rPr sz="900" b="1" i="0">
                <a:solidFill>
                  <a:srgbClr val="1F3864"/>
                </a:solidFill>
                <a:latin typeface="Calibri"/>
              </a:rPr>
              <a:t>2. </a:t>
            </a:r>
            <a:r>
              <a:rPr sz="900" b="0" i="0">
                <a:solidFill>
                  <a:srgbClr val="1F2A37"/>
                </a:solidFill>
                <a:latin typeface="Calibri"/>
              </a:rPr>
              <a:t>HIB, SSF and GIZ — 'Status of openIMIS in Nepal', Kalu Singh Karki (HIB), Dr. Roshan Koju (SSF), GIZ, AeHIN Hour, 30 Apr 2024 (presentation): scale, claim flow, ED approval, 26 reviewers, SSF mechanisms, HIB ↔ SSF silo, National-ID linkage.</a:t>
            </a:r>
          </a:p>
          <a:p>
            <a:pPr>
              <a:spcAft>
                <a:spcPts val="400"/>
              </a:spcAft>
            </a:pPr>
            <a:r>
              <a:rPr sz="900" b="1" i="0">
                <a:solidFill>
                  <a:srgbClr val="1F3864"/>
                </a:solidFill>
                <a:latin typeface="Calibri"/>
              </a:rPr>
              <a:t>3. </a:t>
            </a:r>
            <a:r>
              <a:rPr sz="900" b="0" i="0">
                <a:solidFill>
                  <a:srgbClr val="1F2A37"/>
                </a:solidFill>
                <a:latin typeface="Calibri"/>
              </a:rPr>
              <a:t>MoHP / SIL Nepal — 'Updates on Standards and Interoperability in Nepal', Ramesh Raj Subedi and Sanjaya Poudel, AeHIN Hour 327, 27 Nov 2024: 180+ EMRs, FHIR R4, ICD-10 / ICD-11 roadmap.</a:t>
            </a:r>
          </a:p>
          <a:p>
            <a:pPr>
              <a:spcAft>
                <a:spcPts val="400"/>
              </a:spcAft>
            </a:pPr>
            <a:r>
              <a:rPr sz="900" b="1" i="0">
                <a:solidFill>
                  <a:srgbClr val="1F3864"/>
                </a:solidFill>
                <a:latin typeface="Calibri"/>
              </a:rPr>
              <a:t>4. </a:t>
            </a:r>
            <a:r>
              <a:rPr sz="900" b="0" i="0">
                <a:solidFill>
                  <a:srgbClr val="1F2A37"/>
                </a:solidFill>
                <a:latin typeface="Calibri"/>
              </a:rPr>
              <a:t>HIB — Workflow for Claim Processing (three lanes), HIB presentation, 2025; HIB domain-expert interview notes, 2025 (existing rule engine, random sampling, SSF schemes, claim vault, standard treatment protocol).</a:t>
            </a:r>
          </a:p>
          <a:p>
            <a:pPr>
              <a:spcAft>
                <a:spcPts val="400"/>
              </a:spcAft>
            </a:pPr>
            <a:r>
              <a:rPr sz="900" b="1" i="0">
                <a:solidFill>
                  <a:srgbClr val="1F3864"/>
                </a:solidFill>
                <a:latin typeface="Calibri"/>
              </a:rPr>
              <a:t>5. </a:t>
            </a:r>
            <a:r>
              <a:rPr sz="900" b="0" i="0">
                <a:solidFill>
                  <a:srgbClr val="1F2A37"/>
                </a:solidFill>
                <a:latin typeface="Calibri"/>
              </a:rPr>
              <a:t>openIMIS Initiative — Nepal Health Insurance page; AI Claims Solution; demo server; openIMIS wiki: FHIR R4 Claim mapping, Claim module scope, Improved Claims Review, AI-based Claim Adjudication (accessed Jul–Sep 2026).</a:t>
            </a:r>
          </a:p>
          <a:p>
            <a:pPr>
              <a:spcAft>
                <a:spcPts val="400"/>
              </a:spcAft>
            </a:pPr>
            <a:r>
              <a:rPr sz="900" b="1" i="0">
                <a:solidFill>
                  <a:srgbClr val="1F3864"/>
                </a:solidFill>
                <a:latin typeface="Calibri"/>
              </a:rPr>
              <a:t>6. </a:t>
            </a:r>
            <a:r>
              <a:rPr sz="900" b="0" i="0">
                <a:solidFill>
                  <a:srgbClr val="1F2A37"/>
                </a:solidFill>
                <a:latin typeface="Calibri"/>
              </a:rPr>
              <a:t>openIMIS GitHub organisation — openimis-be-claim_py (validations.py), claim_sampling_py, claim_ai_quality_py, fhir_py, frontend claim module; PR #214 synthetic-data generator (merged 15 Jul 2026).</a:t>
            </a:r>
          </a:p>
          <a:p>
            <a:pPr>
              <a:spcAft>
                <a:spcPts val="400"/>
              </a:spcAft>
            </a:pPr>
            <a:r>
              <a:rPr sz="900" b="1" i="0">
                <a:solidFill>
                  <a:srgbClr val="1F3864"/>
                </a:solidFill>
                <a:latin typeface="Calibri"/>
              </a:rPr>
              <a:t>7. </a:t>
            </a:r>
            <a:r>
              <a:rPr sz="900" b="0" i="0">
                <a:solidFill>
                  <a:srgbClr val="1F2A37"/>
                </a:solidFill>
                <a:latin typeface="Calibri"/>
              </a:rPr>
              <a:t>Government of Nepal — National Health Insurance Policy 2014; Health Insurance Act 2017; Health Insurance Regulation 2019. MoHP — IHIMS Roadmap 2023–2030; National Digital Health Blueprint.</a:t>
            </a:r>
          </a:p>
          <a:p>
            <a:pPr>
              <a:spcAft>
                <a:spcPts val="400"/>
              </a:spcAft>
            </a:pPr>
            <a:r>
              <a:rPr sz="900" b="1" i="0">
                <a:solidFill>
                  <a:srgbClr val="1F3864"/>
                </a:solidFill>
                <a:latin typeface="Calibri"/>
              </a:rPr>
              <a:t>8. </a:t>
            </a:r>
            <a:r>
              <a:rPr sz="900" b="0" i="0">
                <a:solidFill>
                  <a:srgbClr val="1F2A37"/>
                </a:solidFill>
                <a:latin typeface="Calibri"/>
              </a:rPr>
              <a:t>Ranabhat et al. / Ghimire et al. — Evaluation of Nepal's National Health Insurance Program, Health Research Policy &amp; Systems (2022/2023); PMC9862822 (fraud about 5.5 %; 25–30k claims a day).</a:t>
            </a:r>
          </a:p>
          <a:p>
            <a:pPr>
              <a:spcAft>
                <a:spcPts val="400"/>
              </a:spcAft>
            </a:pPr>
            <a:r>
              <a:rPr sz="900" b="1" i="0">
                <a:solidFill>
                  <a:srgbClr val="1F3864"/>
                </a:solidFill>
                <a:latin typeface="Calibri"/>
              </a:rPr>
              <a:t>9. </a:t>
            </a:r>
            <a:r>
              <a:rPr sz="900" b="0" i="0">
                <a:solidFill>
                  <a:srgbClr val="1F2A37"/>
                </a:solidFill>
                <a:latin typeface="Calibri"/>
              </a:rPr>
              <a:t>Katmandu Journal — Nepal's health-insurance scheme running out of money and trust, 13 Jan 2026 (20–27 % rejection; backlog); Himalayan Times analysis (Mar 2026); GoN FY 2082/83 health policy.</a:t>
            </a:r>
          </a:p>
          <a:p>
            <a:pPr>
              <a:spcAft>
                <a:spcPts val="400"/>
              </a:spcAft>
            </a:pPr>
            <a:r>
              <a:rPr sz="900" b="1" i="0">
                <a:solidFill>
                  <a:srgbClr val="1F3864"/>
                </a:solidFill>
                <a:latin typeface="Calibri"/>
              </a:rPr>
              <a:t>10. </a:t>
            </a:r>
            <a:r>
              <a:rPr sz="900" b="0" i="0">
                <a:solidFill>
                  <a:srgbClr val="1F2A37"/>
                </a:solidFill>
                <a:latin typeface="Calibri"/>
              </a:rPr>
              <a:t>World Bank — openIMIS in Nepal (2025); WHO — Global Monitoring Report on UHC (2019); Mills, A. — Health care systems in low- and middle-income countries, NEJM 2014;370:552-7.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openIMIS Nepal — Week 5 · the claim journey, the knowledge base and the proposal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PART 4 · CARRIED OVER FROM THE WEEK 2 DEEP-DIVE, EXTENDED IN WEEKS 3–5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113385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1F3864"/>
                </a:solidFill>
                <a:latin typeface="Calibri"/>
              </a:rPr>
              <a:t>References (2 of 2) — fraud, country systems, knowledge engineering and standards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" y="932688"/>
            <a:ext cx="1408176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" y="932688"/>
            <a:ext cx="1408176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Patient visits hospital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58568" y="932688"/>
            <a:ext cx="2606040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58568" y="932688"/>
            <a:ext cx="260604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Health facility submits claim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3228" y="932688"/>
            <a:ext cx="3204972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3228" y="932688"/>
            <a:ext cx="3204972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Claim adjudication by HIB / SSF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300861"/>
            <a:ext cx="7786116" cy="317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300861"/>
            <a:ext cx="7786116" cy="31750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1772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1060704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1659636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2258568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2857500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Oval 17"/>
          <p:cNvSpPr/>
          <p:nvPr/>
        </p:nvSpPr>
        <p:spPr>
          <a:xfrm>
            <a:off x="3456432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9" name="Oval 18"/>
          <p:cNvSpPr/>
          <p:nvPr/>
        </p:nvSpPr>
        <p:spPr>
          <a:xfrm>
            <a:off x="4055364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0" name="Oval 19"/>
          <p:cNvSpPr/>
          <p:nvPr/>
        </p:nvSpPr>
        <p:spPr>
          <a:xfrm>
            <a:off x="4654296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1" name="Oval 20"/>
          <p:cNvSpPr/>
          <p:nvPr/>
        </p:nvSpPr>
        <p:spPr>
          <a:xfrm>
            <a:off x="5253228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2" name="Oval 21"/>
          <p:cNvSpPr/>
          <p:nvPr/>
        </p:nvSpPr>
        <p:spPr>
          <a:xfrm>
            <a:off x="5852160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3" name="Oval 22"/>
          <p:cNvSpPr/>
          <p:nvPr/>
        </p:nvSpPr>
        <p:spPr>
          <a:xfrm>
            <a:off x="6451092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24" name="Oval 23"/>
          <p:cNvSpPr/>
          <p:nvPr/>
        </p:nvSpPr>
        <p:spPr>
          <a:xfrm>
            <a:off x="7050024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25" name="Oval 24"/>
          <p:cNvSpPr/>
          <p:nvPr/>
        </p:nvSpPr>
        <p:spPr>
          <a:xfrm>
            <a:off x="7648956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26" name="Oval 25"/>
          <p:cNvSpPr/>
          <p:nvPr/>
        </p:nvSpPr>
        <p:spPr>
          <a:xfrm>
            <a:off x="8247888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88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1 · Journey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6696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2 · Knowledge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60704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3 · Rules &amp; review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24712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Calibri"/>
              </a:rPr>
              <a:t>4 · Proposal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1444752"/>
            <a:ext cx="2468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0" i="0">
                <a:solidFill>
                  <a:srgbClr val="0C7D72"/>
                </a:solidFill>
                <a:latin typeface="Calibri"/>
              </a:rPr>
              <a:t>★ dashed = the hops this study adds (8 · 11 · 12)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1700784"/>
            <a:ext cx="1136873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1810512"/>
            <a:ext cx="11338560" cy="43891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>
              <a:spcAft>
                <a:spcPts val="400"/>
              </a:spcAft>
            </a:pPr>
            <a:r>
              <a:rPr sz="900" b="1" i="0">
                <a:solidFill>
                  <a:srgbClr val="1F3864"/>
                </a:solidFill>
                <a:latin typeface="Calibri"/>
              </a:rPr>
              <a:t>11. </a:t>
            </a:r>
            <a:r>
              <a:rPr sz="900" b="0" i="0">
                <a:solidFill>
                  <a:srgbClr val="1F2A37"/>
                </a:solidFill>
                <a:latin typeface="Calibri"/>
              </a:rPr>
              <a:t>NHCAA — The Challenge of Health Care Fraud (3–10 % of US spending). World Bank — Preventing, Detecting and Deterring Fraud in Social Health Insurance Programs (HNP Discussion Paper, Nov 2018). EHFCN — Waste Typology Matrix (2014); CMS — Fraud, Waste &amp; Abuse; NCCI / MUE.</a:t>
            </a:r>
          </a:p>
          <a:p>
            <a:pPr>
              <a:spcAft>
                <a:spcPts val="400"/>
              </a:spcAft>
            </a:pPr>
            <a:r>
              <a:rPr sz="900" b="1" i="0">
                <a:solidFill>
                  <a:srgbClr val="1F3864"/>
                </a:solidFill>
                <a:latin typeface="Calibri"/>
              </a:rPr>
              <a:t>12. </a:t>
            </a:r>
            <a:r>
              <a:rPr sz="900" b="0" i="0">
                <a:solidFill>
                  <a:srgbClr val="1F2A37"/>
                </a:solidFill>
                <a:latin typeface="Calibri"/>
              </a:rPr>
              <a:t>National Health Authority (India) — Anti-Fraud Framework &amp; Practitioners' Guidebook (Sep 2024); PM-JAY penalty / de-empanelment data (FY 2025-26). GKV-Spitzenverband (Germany) — §197a SGB V fraud-unit reports.</a:t>
            </a:r>
          </a:p>
          <a:p>
            <a:pPr>
              <a:spcAft>
                <a:spcPts val="400"/>
              </a:spcAft>
            </a:pPr>
            <a:r>
              <a:rPr sz="900" b="1" i="0">
                <a:solidFill>
                  <a:srgbClr val="1F3864"/>
                </a:solidFill>
                <a:latin typeface="Calibri"/>
              </a:rPr>
              <a:t>13. </a:t>
            </a:r>
            <a:r>
              <a:rPr sz="900" b="0" i="0">
                <a:solidFill>
                  <a:srgbClr val="1F2A37"/>
                </a:solidFill>
                <a:latin typeface="Calibri"/>
              </a:rPr>
              <a:t>HIRA (South Korea) — Health Insurance Claim Review Using IT; 'What we do'; Kwon S., Case study: Republic of Korea, WHO Kobe Centre; Kim J.A. et al., J Korean Med Sci (2017). Taiwan NHI / MOHW — automated claims examination; ML fraud-detection studies.</a:t>
            </a:r>
          </a:p>
          <a:p>
            <a:pPr>
              <a:spcAft>
                <a:spcPts val="400"/>
              </a:spcAft>
            </a:pPr>
            <a:r>
              <a:rPr sz="900" b="1" i="0">
                <a:solidFill>
                  <a:srgbClr val="1F3864"/>
                </a:solidFill>
                <a:latin typeface="Calibri"/>
              </a:rPr>
              <a:t>14. </a:t>
            </a:r>
            <a:r>
              <a:rPr sz="900" b="0" i="0">
                <a:solidFill>
                  <a:srgbClr val="1F2A37"/>
                </a:solidFill>
                <a:latin typeface="Calibri"/>
              </a:rPr>
              <a:t>NHSO Thailand — strategic purchasing and e-claim audit (PLOS Global Public Health, 2023); RSSB Rwanda — CBHI and RHIP (2020); PhilHealth 'ghost dialysis' coverage (2019).</a:t>
            </a:r>
          </a:p>
          <a:p>
            <a:pPr>
              <a:spcAft>
                <a:spcPts val="400"/>
              </a:spcAft>
            </a:pPr>
            <a:r>
              <a:rPr sz="900" b="1" i="0">
                <a:solidFill>
                  <a:srgbClr val="1F3864"/>
                </a:solidFill>
                <a:latin typeface="Calibri"/>
              </a:rPr>
              <a:t>15. </a:t>
            </a:r>
            <a:r>
              <a:rPr sz="900" b="0" i="0">
                <a:solidFill>
                  <a:srgbClr val="1F2A37"/>
                </a:solidFill>
                <a:latin typeface="Calibri"/>
              </a:rPr>
              <a:t>Gee, J. &amp; Button, M. — The Financial Cost of Healthcare Fraud 2014/15, University of Portsmouth. CMS — Fraud Prevention System reports to Congress (2012–2015).</a:t>
            </a:r>
          </a:p>
          <a:p>
            <a:pPr>
              <a:spcAft>
                <a:spcPts val="400"/>
              </a:spcAft>
            </a:pPr>
            <a:r>
              <a:rPr sz="900" b="1" i="0">
                <a:solidFill>
                  <a:srgbClr val="1F3864"/>
                </a:solidFill>
                <a:latin typeface="Calibri"/>
              </a:rPr>
              <a:t>16. </a:t>
            </a:r>
            <a:r>
              <a:rPr sz="900" b="0" i="0">
                <a:solidFill>
                  <a:srgbClr val="1F2A37"/>
                </a:solidFill>
                <a:latin typeface="Calibri"/>
              </a:rPr>
              <a:t>Polanyi, M. — The Tacit Dimension (1966). Cooke, N. J. — Varieties of Knowledge Elicitation Techniques, IJHCS (1994). Shadbolt, N. &amp; Smart, P. — Knowledge Elicitation: Methods, Tools and Techniques (2015). Hoffman, Crandall &amp; Shadbolt — CDM, Human Factors (1998).</a:t>
            </a:r>
          </a:p>
          <a:p>
            <a:pPr>
              <a:spcAft>
                <a:spcPts val="400"/>
              </a:spcAft>
            </a:pPr>
            <a:r>
              <a:rPr sz="900" b="1" i="0">
                <a:solidFill>
                  <a:srgbClr val="1F3864"/>
                </a:solidFill>
                <a:latin typeface="Calibri"/>
              </a:rPr>
              <a:t>17. </a:t>
            </a:r>
            <a:r>
              <a:rPr sz="900" b="0" i="0">
                <a:solidFill>
                  <a:srgbClr val="1F2A37"/>
                </a:solidFill>
                <a:latin typeface="Calibri"/>
              </a:rPr>
              <a:t>Ericsson &amp; Simon — Protocol Analysis (1984/1993). Schreiber et al. — CommonKADS (2000). ISO 704 / OBO Foundry / W3C — naming and ontology conventions (surveyed in Week 3-4/ontology/01).</a:t>
            </a:r>
          </a:p>
          <a:p>
            <a:pPr>
              <a:spcAft>
                <a:spcPts val="400"/>
              </a:spcAft>
            </a:pPr>
            <a:r>
              <a:rPr sz="900" b="1" i="0">
                <a:solidFill>
                  <a:srgbClr val="1F3864"/>
                </a:solidFill>
                <a:latin typeface="Calibri"/>
              </a:rPr>
              <a:t>18. </a:t>
            </a:r>
            <a:r>
              <a:rPr sz="900" b="0" i="0">
                <a:solidFill>
                  <a:srgbClr val="1F2A37"/>
                </a:solidFill>
                <a:latin typeface="Calibri"/>
              </a:rPr>
              <a:t>WHO — ICD-10, ICD-11, ICHI; WHO Nepal — medical recorders trained on ICD-11 (15 Dec 2021); MoHP Digital Health — the transition from ICD-10 to ICD-11; HL7 — FHIR R4; LOINC; SNOMED International; ATC / DDD; ISO 3166-2:NP; DoHS — HMIS portal (DHIS2); PLOS One (2024) on DHIS2 data quality; NLEM Nepal 2021 (6th revision).</a:t>
            </a:r>
          </a:p>
          <a:p>
            <a:pPr>
              <a:spcAft>
                <a:spcPts val="400"/>
              </a:spcAft>
            </a:pPr>
            <a:r>
              <a:rPr sz="900" b="1" i="0">
                <a:solidFill>
                  <a:srgbClr val="1F3864"/>
                </a:solidFill>
                <a:latin typeface="Calibri"/>
              </a:rPr>
              <a:t>19. </a:t>
            </a:r>
            <a:r>
              <a:rPr sz="900" b="0" i="0">
                <a:solidFill>
                  <a:srgbClr val="1F2A37"/>
                </a:solidFill>
                <a:latin typeface="Calibri"/>
              </a:rPr>
              <a:t>Health-insurance claim adjudication report with references (project document, 2025): HIB rejection causes, benefit package, co-payment, FHIR uptake, SSF share of openIMIS claims, country comparison (refs 22, 62, 67–78).</a:t>
            </a:r>
          </a:p>
          <a:p>
            <a:pPr>
              <a:spcAft>
                <a:spcPts val="400"/>
              </a:spcAft>
            </a:pPr>
            <a:r>
              <a:rPr sz="900" b="1" i="0">
                <a:solidFill>
                  <a:srgbClr val="1F3864"/>
                </a:solidFill>
                <a:latin typeface="Calibri"/>
              </a:rPr>
              <a:t>20. </a:t>
            </a:r>
            <a:r>
              <a:rPr sz="900" b="0" i="0">
                <a:solidFill>
                  <a:srgbClr val="1F2A37"/>
                </a:solidFill>
                <a:latin typeface="Calibri"/>
              </a:rPr>
              <a:t>Team documents — Week 1 report and deck; Week 2 fraud deep-dive, rule catalog and deck; Week 3-4 report, deck, knowledge base, prototype, synthetic data, ontology and the Claim Journey web app.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openIMIS Nepal — Week 5 · the claim journey, the knowledge base and the proposal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C7D72"/>
                </a:solidFill>
                <a:latin typeface="Calibri"/>
              </a:rPr>
              <a:t>THANK YOU · QUESTIONS WELCOME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Calibri"/>
              </a:rPr>
              <a:t>openIMIS already checks each claim on its own — our layer catches what only appears when you compare claims across facilities and schemes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" y="932688"/>
            <a:ext cx="1408176" cy="1828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" y="932688"/>
            <a:ext cx="1408176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Patient visits hospital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58568" y="932688"/>
            <a:ext cx="2606040" cy="1828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58568" y="932688"/>
            <a:ext cx="260604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Health facility submits claim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53228" y="932688"/>
            <a:ext cx="3204972" cy="1828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3228" y="932688"/>
            <a:ext cx="3204972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Claim adjudication by HIB / SSF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300861"/>
            <a:ext cx="7786116" cy="317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1300861"/>
            <a:ext cx="7786116" cy="31750"/>
          </a:xfrm>
          <a:prstGeom prst="rect">
            <a:avLst/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772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060704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Oval 15"/>
          <p:cNvSpPr/>
          <p:nvPr/>
        </p:nvSpPr>
        <p:spPr>
          <a:xfrm>
            <a:off x="1659636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2258568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Oval 17"/>
          <p:cNvSpPr/>
          <p:nvPr/>
        </p:nvSpPr>
        <p:spPr>
          <a:xfrm>
            <a:off x="2857500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3456432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0" name="Oval 19"/>
          <p:cNvSpPr/>
          <p:nvPr/>
        </p:nvSpPr>
        <p:spPr>
          <a:xfrm>
            <a:off x="4055364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1" name="Oval 20"/>
          <p:cNvSpPr/>
          <p:nvPr/>
        </p:nvSpPr>
        <p:spPr>
          <a:xfrm>
            <a:off x="4608576" y="1165860"/>
            <a:ext cx="301752" cy="301752"/>
          </a:xfrm>
          <a:prstGeom prst="ellipse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54296" y="1211580"/>
            <a:ext cx="210312" cy="2103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3864"/>
                </a:solidFill>
                <a:latin typeface="Calibri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5404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1F3864"/>
                </a:solidFill>
                <a:latin typeface="Calibri"/>
              </a:rPr>
              <a:t>Identity and
cross-claim rules</a:t>
            </a:r>
          </a:p>
        </p:txBody>
      </p:sp>
      <p:sp>
        <p:nvSpPr>
          <p:cNvPr id="24" name="Oval 23"/>
          <p:cNvSpPr/>
          <p:nvPr/>
        </p:nvSpPr>
        <p:spPr>
          <a:xfrm>
            <a:off x="5253228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5" name="Oval 24"/>
          <p:cNvSpPr/>
          <p:nvPr/>
        </p:nvSpPr>
        <p:spPr>
          <a:xfrm>
            <a:off x="5852160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6" name="Oval 25"/>
          <p:cNvSpPr/>
          <p:nvPr/>
        </p:nvSpPr>
        <p:spPr>
          <a:xfrm>
            <a:off x="6405372" y="1165860"/>
            <a:ext cx="301752" cy="301752"/>
          </a:xfrm>
          <a:prstGeom prst="ellipse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51092" y="1211580"/>
            <a:ext cx="210312" cy="2103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3864"/>
                </a:solidFill>
                <a:latin typeface="Calibri"/>
              </a:rPr>
              <a:t>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1F3864"/>
                </a:solidFill>
                <a:latin typeface="Calibri"/>
              </a:rPr>
              <a:t>Ranked
review queue</a:t>
            </a:r>
          </a:p>
        </p:txBody>
      </p:sp>
      <p:sp>
        <p:nvSpPr>
          <p:cNvPr id="29" name="Oval 28"/>
          <p:cNvSpPr/>
          <p:nvPr/>
        </p:nvSpPr>
        <p:spPr>
          <a:xfrm>
            <a:off x="7004304" y="1165860"/>
            <a:ext cx="301752" cy="301752"/>
          </a:xfrm>
          <a:prstGeom prst="ellipse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50024" y="1211580"/>
            <a:ext cx="210312" cy="2103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3864"/>
                </a:solidFill>
                <a:latin typeface="Calibri"/>
              </a:rPr>
              <a:t>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71132" y="1440180"/>
            <a:ext cx="768096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700" b="1" i="0">
                <a:solidFill>
                  <a:srgbClr val="1F3864"/>
                </a:solidFill>
                <a:latin typeface="Calibri"/>
              </a:rPr>
              <a:t>Reviewer
decision</a:t>
            </a:r>
          </a:p>
        </p:txBody>
      </p:sp>
      <p:sp>
        <p:nvSpPr>
          <p:cNvPr id="32" name="Oval 31"/>
          <p:cNvSpPr/>
          <p:nvPr/>
        </p:nvSpPr>
        <p:spPr>
          <a:xfrm>
            <a:off x="7648956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33" name="Oval 32"/>
          <p:cNvSpPr/>
          <p:nvPr/>
        </p:nvSpPr>
        <p:spPr>
          <a:xfrm>
            <a:off x="8247888" y="1211580"/>
            <a:ext cx="210312" cy="210312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20" y="1207008"/>
            <a:ext cx="82296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700" b="0" i="1">
                <a:solidFill>
                  <a:srgbClr val="6B7280"/>
                </a:solidFill>
                <a:latin typeface="Calibri"/>
              </a:rPr>
              <a:t>Our layer · Medical Officers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2688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1 · Journey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6696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2 · Knowledge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60704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3 · Rules &amp; review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247120" y="96926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00" b="1">
                <a:solidFill>
                  <a:srgbClr val="6B7280"/>
                </a:solidFill>
                <a:latin typeface="Calibri"/>
              </a:rPr>
              <a:t>4 · Proposal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1444752"/>
            <a:ext cx="2468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0" i="0">
                <a:solidFill>
                  <a:srgbClr val="0C7D72"/>
                </a:solidFill>
                <a:latin typeface="Calibri"/>
              </a:rPr>
              <a:t>★ dashed = the hops this study adds (8 · 11 · 12)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1700784"/>
            <a:ext cx="1136873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22960" y="365760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7552" y="3749040"/>
            <a:ext cx="2331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Part 1 · The claim journey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041648"/>
            <a:ext cx="237744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Calibri"/>
              </a:rPr>
              <a:t>HIB's 14 hops; nobody compares a claim with the person's other claims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566160" y="365760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30752" y="3749040"/>
            <a:ext cx="2331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Part 2 · Knowledge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03320" y="4041648"/>
            <a:ext cx="237744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Calibri"/>
              </a:rPr>
              <a:t>HIC ontology, Nepal's coding standards, a labelled synthetic claim book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09360" y="365760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73952" y="3749040"/>
            <a:ext cx="2331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Part 3 · Rules &amp; review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041648"/>
            <a:ext cx="237744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Calibri"/>
              </a:rPr>
              <a:t>six explainable rules, a ranked queue, honest failures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052560" y="365760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17152" y="3749040"/>
            <a:ext cx="2331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Part 4 · Proposed solution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89720" y="4041648"/>
            <a:ext cx="237744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Calibri"/>
              </a:rPr>
              <a:t>an additive openIMIS module; one identity, checks before payment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" y="5394960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F2A37"/>
                </a:solidFill>
                <a:latin typeface="Calibri"/>
              </a:rPr>
              <a:t>Grishma Rijal · Rijan Ghimire · Milan Maharjan · Biwash Budhathoki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" y="5760720"/>
            <a:ext cx="100584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Week 5 · Demo: Week 3-4/mvp → npm run dev → http://localhost:5173 · deep links /?scenario=cross_scheme&amp;step=7 · /?scenario=cross_hard&amp;step=13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